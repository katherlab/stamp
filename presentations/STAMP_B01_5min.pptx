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Predicting VEN/AZA Response in AML from Blast Morphology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DE6F2"/>
                </a:solidFill>
              </a:defRPr>
            </a:pPr>
            <a:r>
              <a:t>SFB 1709 · Project B01  •  STAMP computational-pathology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DE6F2"/>
                </a:solidFill>
              </a:defRPr>
            </a:pPr>
            <a:r>
              <a:t>Jiefu Zhu (PhD)  •  PIs: Prof. J. N. Kather, Dr. M. Janssen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DE6F2"/>
                </a:solidFill>
              </a:defRPr>
            </a:pPr>
            <a:r>
              <a:t>Dept. of Medical Oncology (NCT-HD) &amp; Dept. of Hematology, Heidelberg University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Predict VEN/AZA response in AML from the appearance of blast cells.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AML is treated with venetoclax + azacitidine — but who responds is hard to predict.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Blasts (leukemic cells) are graded by eye on bone-marrow smears.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Can we predict VEN/AZA response directly from blast morphology?</a:t>
            </a:r>
          </a:p>
          <a:p>
            <a:pPr lvl="1">
              <a:spcAft>
                <a:spcPts val="700"/>
              </a:spcAft>
              <a:defRPr sz="1800">
                <a:solidFill>
                  <a:srgbClr val="666666"/>
                </a:solidFill>
              </a:defRPr>
            </a:pPr>
            <a:r>
              <a:t>– Project B01: AI image analysis + single-cell transcriptomics on paired diagnosis/relapse samples.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Slide → UNI2 features → ViT-MIL → cross-validated prediction + heatmap.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STAMP weakly-supervised pipeline on bone-marrow smear WSIs (only slide-level labels).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UNI2 tile features → Vision-Transformer MIL → 5-fold cross-validation.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69 patients • 489 samples • 511 slides • 4 prediction tasks.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</a:defRPr>
            </a:pPr>
            <a:r>
              <a:t>• Outputs metrics with 95% CIs and explainability heatmaps.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Key results (5-fold cross-validation)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554480"/>
                <a:gridCol w="256032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A4D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RESPONSE_CR (complete remission)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489 (336 yes / 153 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AUROC 0.870  (95% CI 0.80–0.94)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HIGH_BLAST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489 (98 / 391)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AUROC 0.929  (0.88–0.98)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BLAST_SEVERITY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489 (98 / 55 / 336)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AUROC: high 0.91 · low 0.86 · interm. 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BLAST_PERCENT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n≈97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Pearson r 0.68 · R²≈0 · MAE 12%</a:t>
                      </a:r>
                    </a:p>
                  </a:txBody>
                  <a:tcPr>
                    <a:solidFill>
                      <a:srgbClr val="EEEF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66666"/>
                </a:solidFill>
              </a:defRPr>
            </a:pPr>
            <a:r>
              <a:t>Response and blast burden are strongly predictable. Blast-% regression ranks well (r=0.68) but is not yet calibrated (R²≈0, MAE 12%).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8C"/>
                </a:solidFill>
              </a:defRPr>
            </a:pPr>
            <a:r>
              <a:t>What the model looks 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ponse_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554480"/>
            <a:ext cx="644652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Heatmaps localize the morphology driving each call.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HIGH_BLAST attention tracks clinical blast burden.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– Caveat: trust blast-% ordering, not the exact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RESPONSE_CR heatmap: sample 333 19 A (held-out). GT responder; P(yes)=0.945. Red = most relevant tiles — the prediction is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SFB 1709 · B01 · 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Response (AUROC 0.87) &amp; high blast burden (0.93) predictable from smear morphology alone.</a:t>
            </a:r>
          </a:p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Predictions are explainable via heatmaps — ready for clinician review.</a:t>
            </a:r>
          </a:p>
          <a:p>
            <a:pPr>
              <a:spcAft>
                <a:spcPts val="1200"/>
              </a:spcAft>
              <a:defRPr sz="2000">
                <a:solidFill>
                  <a:srgbClr val="E6ECF5"/>
                </a:solidFill>
              </a:defRPr>
            </a:pPr>
            <a:r>
              <a:t>• Next: pathologist annotation + integration with single-cell transcriptomics for biomarkers.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