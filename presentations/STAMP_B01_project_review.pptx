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and thank you for the time. I'll present our progress on Project B01 — predicting venetoclax–azacitidine response in AML from bone-marrow smear morphology with deep learning. I'll cover the clinical question, our data, the method, all the experiments, the honest cross-validated results, and where I'd like your input.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AML is driven by immature cells called blasts. Venetoclax plus azacitidine is a standard therapy, but response varies a lot between patients and is hard to predict up front. Blasts are already read on smears, so there is rich morphological information — it is just subjective and summarised at the slide level. Our question: is that morphology enough to predict response?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hypothesis is that blast morphology carries response information. The project pairs two modalities on the same diagnosis and relapse samples — image analysis, which I'll show today, and single-cell RNA sequencing. The aim is prediction and, by linking the two, candidate biomarkers of VEN/AZA response.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cohort is 69 patients, 489 samples across 511 slides. The crucial detail for evaluation is that there are about seven smears per patient — up to 24 for one patient. That shapes how we must cross-validate, which is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methodological point I want to be transparent about. Response is a patient-level outcome, so it is the same label on all of a patient's smears. If we split folds by sample, the model can see other smears from the same patient during training and then be tested on a held-out smear of that same patient — that is leakage, and it inflates performance. So I re-ran all four tasks grouping the folds by patient, which guarantees no patient is in both train and test. Everything I show from here on is the honest, patient-grouped evaluation.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 targets and their distributions. Two points: the classes are imbalanced — only about 98 of 489 samples are high-blast — and blast percentage is concentrated below 5% with a long high tail. That tail is where the regression struggles.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method is the published STAMP pipeline. Slides are tiled and quality-filtered, every tile is embedded by the UNI2 foundation model, and an attention Transformer aggregates them into one prediction per sample. The attention gives us heatmaps, which matter for the interpretability experiment.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full set of experiments — four predictive models, an interpretability test, a preprocessing-quality investigation, and a cell-level feasibility pilot. I'll take them in order.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headline. The grey bars are the old sample-split numbers; the navy bars are the honest patient-grouped numbers. Performance comes down when we remove the leakage — as expected, most for response — but the picture is stable: high blast burden is easiest, response is predictable above chance, and blast percentage stays the weak spot. These navy numbers are what we stand behind.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numbers in a table. I'll now walk through each experiment with the supporting heatmaps.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Experiment one is the complete-remission label. The honest patient-grouped AUROC is 0.83. I'll show it here, but with an important caveat I'll come back to in a few slides: in this dataset the RESPONSE_CR label turns out to be defined by the blast count, so this number is closely tied to blast burden rather than an independent outcome. The heatmaps, from the initial models, show attention on the cellular smear.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Experiment two, high blast burden — our strongest model at AUROC 0.90, and it barely moves under patient-grouped CV, which makes sense because blast burden is genuinely visible in the images. The attention lands on the dense blast clusters. This is the signal we trust most.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Experiment three grades severity into three levels. High and low are recovered well; the intermediate band is hardest, which matches clinical experience — the middle is genuinely ambiguous. That tells us where extra annotation would pay off.</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Experiment four, the exact blast percentage. Correlation is moderate — Pearson 0.65 — so ordering is roughly right, but calibration is poor: it systematically under-predicts the highest-blast slides, as in these examples where the truth is 90% and the model says about 12%. Use the ranking, not the absolute number.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Experiment five asks whether the attention is trustworthy, across all samples. For the HIGH_BLAST model, the overlap of top-attended regions with cell-rich tissue rises with blast burden — proxy AUROC 0.86. For the regression model it is flat, no better than chance. So we use the HIGH_BLAST maps for visual triage, not the regression maps.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AUROC can look optimistic under class imbalance, here are precision-recall curves and calibration. HIGH_BLAST holds up well on precision-recall; response is weaker, consistent with the AUROC. The reliability curves show where the probabilities are well-calibrated and where they'd need adjustment before any clinical use.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important caveat, and I want to be upfront about it. When I split the response labels by blast burden, the separation is perfect: every sample under 5% blasts is labelled responder, and every sample at or above 5% is non-responder. In other words, RESPONSE_CR as provided is exactly the morphologic complete-remission criterion — marrow blasts under 5%. So the 0.83 'response' number is the model re-reading blast burden on the same slide, not predicting an independent treatment outcome. A genuine response-prediction task needs the outcome decoupled from the same-slide blast count — for example predicting later response from the diagnostic smear. I flag this clearly and it's my first question for the clinical team.</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Kather will ask about batch effects, so I checked directly. On the left, whether the scan protocol is associated with the label; on the right, whether the model's score can predict the protocol — that AUROC is 0.59. The closer to 0.5, the less the model is keying on scanner batch rather than biology. I'll also add stain normalization as a safeguard.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Experiment six: some slides lose almost all tiles in preprocessing — this one kept under 5%. The tissue is present; the tiles fail the focus filter, not the background filter, and it tracks the scan setting. The pipeline is behaving correctly; the fix is upstream — re-scan those slides at higher focus.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experiment is forward-looking. Before investing in a cell-level method like DeepHeme, we need to know whether a human can resolve individual cells in the tiles our model selects. So I assembled a twelve-slide review deck from the native-resolution tiles the pipeline already exports. It's ready for a hematopathologist to score, which is where I'd value the team's help.</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Pulling it together: the strong, honest result is that the model reliably reads blast burden from morphology, and that holds up under patient-grouped evaluation. The key caveat is that the response label, as provided, is the blast-count criterion, so we can't yet call it treatment-response prediction. The models are interpretable, the regression ranks but isn't calibrated, there's no strong scanner-batch confound, and focus quality is fixable.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Limitations. Labels are slide-level. The percentage regression is mis-calibrated. The subgroup analyses are limited by small numbers. Some confident errors may be label noise. And this is a single center — external validation is still ahead.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Proposed next steps, and where I'd like your input. Short term: a pathologist review of the pilot and the confident-error list, and re-scanning the low-focus slides. Medium term: recalibrate the blast-percentage task, annotate the intermediate band, add stain normalization, and build a small cell-level annotation set. Long term: integrate with the single-cell data for biomarkers and validate externally. My immediate ask is the pathologist review and the re-scan.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summary: the honest, robust result is that morphology reads blast burden well and it holds under patient-grouped evaluation. The most important thing I surfaced is that the response label here is the blast-count criterion, so decoupling the outcome is the first priority. The models are interpretable, I've checked the confounds, and the exciting direction is integrating with the single-cell data. Thank you — I welcome your feedback and questions.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backup slides for the discussion.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Detail on the leakage and the fix.</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comparison table for reference.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Checklist of label-definition questions to resolve with the clinical team.</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Q&amp;A crib — methodology.</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Q&amp;A crib — clinical &amp; next steps.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image" Target="../media/image13.jp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920240"/>
            <a:ext cx="10698480" cy="1828800"/>
          </a:xfrm>
          <a:prstGeom prst="rect">
            <a:avLst/>
          </a:prstGeom>
          <a:noFill/>
        </p:spPr>
        <p:txBody>
          <a:bodyPr wrap="square">
            <a:spAutoFit/>
          </a:bodyPr>
          <a:lstStyle/>
          <a:p>
            <a:pPr>
              <a:defRPr sz="4000" b="1">
                <a:solidFill>
                  <a:srgbClr val="FFFFFF"/>
                </a:solidFill>
              </a:defRPr>
            </a:pPr>
            <a:r>
              <a:t>Predicting VEN/AZA Response in AML from Blast Morphology with AI</a:t>
            </a:r>
          </a:p>
        </p:txBody>
      </p:sp>
      <p:sp>
        <p:nvSpPr>
          <p:cNvPr id="4" name="TextBox 3"/>
          <p:cNvSpPr txBox="1"/>
          <p:nvPr/>
        </p:nvSpPr>
        <p:spPr>
          <a:xfrm>
            <a:off x="777240" y="3840480"/>
            <a:ext cx="10607040" cy="548640"/>
          </a:xfrm>
          <a:prstGeom prst="rect">
            <a:avLst/>
          </a:prstGeom>
          <a:noFill/>
        </p:spPr>
        <p:txBody>
          <a:bodyPr wrap="square">
            <a:spAutoFit/>
          </a:bodyPr>
          <a:lstStyle/>
          <a:p>
            <a:pPr>
              <a:defRPr sz="2000">
                <a:solidFill>
                  <a:srgbClr val="DDE6F2"/>
                </a:solidFill>
              </a:defRPr>
            </a:pPr>
            <a:r>
              <a:t>SFB 1709 · Project B01  •  STAMP computational-pathology pipeline</a:t>
            </a:r>
          </a:p>
        </p:txBody>
      </p:sp>
      <p:sp>
        <p:nvSpPr>
          <p:cNvPr id="5" name="TextBox 4"/>
          <p:cNvSpPr txBox="1"/>
          <p:nvPr/>
        </p:nvSpPr>
        <p:spPr>
          <a:xfrm>
            <a:off x="777240" y="4572000"/>
            <a:ext cx="10607040" cy="548640"/>
          </a:xfrm>
          <a:prstGeom prst="rect">
            <a:avLst/>
          </a:prstGeom>
          <a:noFill/>
        </p:spPr>
        <p:txBody>
          <a:bodyPr wrap="square">
            <a:spAutoFit/>
          </a:bodyPr>
          <a:lstStyle/>
          <a:p>
            <a:pPr>
              <a:defRPr sz="1600">
                <a:solidFill>
                  <a:srgbClr val="DDE6F2"/>
                </a:solidFill>
              </a:defRPr>
            </a:pPr>
            <a:r>
              <a:t>Jiefu Zhu (PhD)  •  PIs: Prof. J. N. Kather, Dr. M. Janssen</a:t>
            </a:r>
          </a:p>
        </p:txBody>
      </p:sp>
      <p:sp>
        <p:nvSpPr>
          <p:cNvPr id="6" name="TextBox 5"/>
          <p:cNvSpPr txBox="1"/>
          <p:nvPr/>
        </p:nvSpPr>
        <p:spPr>
          <a:xfrm>
            <a:off x="777240" y="5029200"/>
            <a:ext cx="10607040" cy="548640"/>
          </a:xfrm>
          <a:prstGeom prst="rect">
            <a:avLst/>
          </a:prstGeom>
          <a:noFill/>
        </p:spPr>
        <p:txBody>
          <a:bodyPr wrap="square">
            <a:spAutoFit/>
          </a:bodyPr>
          <a:lstStyle/>
          <a:p>
            <a:pPr>
              <a:defRPr sz="1300">
                <a:solidFill>
                  <a:srgbClr val="DDE6F2"/>
                </a:solidFill>
              </a:defRPr>
            </a:pPr>
            <a:r>
              <a:t>Dept. of Medical Oncology (NCT-HD) &amp; Dept. of Hematology, Heidelberg University Hospital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822960"/>
          </a:xfrm>
          <a:prstGeom prst="rect">
            <a:avLst/>
          </a:prstGeom>
          <a:noFill/>
        </p:spPr>
        <p:txBody>
          <a:bodyPr wrap="square">
            <a:spAutoFit/>
          </a:bodyPr>
          <a:lstStyle/>
          <a:p>
            <a:pPr>
              <a:defRPr sz="2800" b="1">
                <a:solidFill>
                  <a:srgbClr val="1A4D8C"/>
                </a:solidFill>
              </a:defRPr>
            </a:pPr>
            <a:r>
              <a:t>Clinical problem</a:t>
            </a:r>
          </a:p>
        </p:txBody>
      </p:sp>
      <p:sp>
        <p:nvSpPr>
          <p:cNvPr id="3" name="Rectangle 2"/>
          <p:cNvSpPr/>
          <p:nvPr/>
        </p:nvSpPr>
        <p:spPr>
          <a:xfrm>
            <a:off x="0" y="1170432"/>
            <a:ext cx="12191695" cy="38100"/>
          </a:xfrm>
          <a:prstGeom prst="rect">
            <a:avLst/>
          </a:prstGeom>
          <a:solidFill>
            <a:srgbClr val="1A4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43584"/>
            <a:ext cx="11247120" cy="457200"/>
          </a:xfrm>
          <a:prstGeom prst="rect">
            <a:avLst/>
          </a:prstGeom>
          <a:noFill/>
        </p:spPr>
        <p:txBody>
          <a:bodyPr wrap="square">
            <a:spAutoFit/>
          </a:bodyPr>
          <a:lstStyle/>
          <a:p>
            <a:pPr>
              <a:defRPr sz="1400" i="1">
                <a:solidFill>
                  <a:srgbClr val="666666"/>
                </a:solidFill>
              </a:defRPr>
            </a:pPr>
            <a:r>
              <a:t>Question: can treatment response be predicted from blast morphology?</a:t>
            </a:r>
          </a:p>
        </p:txBody>
      </p:sp>
      <p:sp>
        <p:nvSpPr>
          <p:cNvPr id="5" name="TextBox 4"/>
          <p:cNvSpPr txBox="1"/>
          <p:nvPr/>
        </p:nvSpPr>
        <p:spPr>
          <a:xfrm>
            <a:off x="548640" y="1874519"/>
            <a:ext cx="11155680" cy="4114800"/>
          </a:xfrm>
          <a:prstGeom prst="rect">
            <a:avLst/>
          </a:prstGeom>
          <a:noFill/>
        </p:spPr>
        <p:txBody>
          <a:bodyPr wrap="square">
            <a:spAutoFit/>
          </a:bodyPr>
          <a:lstStyle/>
          <a:p>
            <a:pPr>
              <a:spcAft>
                <a:spcPts val="700"/>
              </a:spcAft>
              <a:defRPr sz="2000">
                <a:solidFill>
                  <a:srgbClr val="222222"/>
                </a:solidFill>
              </a:defRPr>
            </a:pPr>
            <a:r>
              <a:t>• AML is an aggressive leukemia driven by immature blast cells.</a:t>
            </a:r>
          </a:p>
          <a:p>
            <a:pPr>
              <a:spcAft>
                <a:spcPts val="700"/>
              </a:spcAft>
              <a:defRPr sz="2000">
                <a:solidFill>
                  <a:srgbClr val="222222"/>
                </a:solidFill>
              </a:defRPr>
            </a:pPr>
            <a:r>
              <a:t>• Venetoclax + azacitidine (VEN/AZA) is a standard therapy, but response is heterogeneous.</a:t>
            </a:r>
          </a:p>
          <a:p>
            <a:pPr>
              <a:spcAft>
                <a:spcPts val="700"/>
              </a:spcAft>
              <a:defRPr sz="2000">
                <a:solidFill>
                  <a:srgbClr val="222222"/>
                </a:solidFill>
              </a:defRPr>
            </a:pPr>
            <a:r>
              <a:t>• Predicting response before treatment remains an unmet need.</a:t>
            </a:r>
          </a:p>
          <a:p>
            <a:pPr>
              <a:spcAft>
                <a:spcPts val="700"/>
              </a:spcAft>
              <a:defRPr sz="2000">
                <a:solidFill>
                  <a:srgbClr val="222222"/>
                </a:solidFill>
              </a:defRPr>
            </a:pPr>
            <a:r>
              <a:t>• Blasts are assessed manually on bone-marrow smears — informative but subjective and slide-level.</a:t>
            </a:r>
          </a:p>
        </p:txBody>
      </p:sp>
      <p:sp>
        <p:nvSpPr>
          <p:cNvPr id="6" name="TextBox 5"/>
          <p:cNvSpPr txBox="1"/>
          <p:nvPr/>
        </p:nvSpPr>
        <p:spPr>
          <a:xfrm>
            <a:off x="365760" y="6446520"/>
            <a:ext cx="11430000" cy="320040"/>
          </a:xfrm>
          <a:prstGeom prst="rect">
            <a:avLst/>
          </a:prstGeom>
          <a:noFill/>
        </p:spPr>
        <p:txBody>
          <a:bodyPr wrap="none">
            <a:spAutoFit/>
          </a:bodyPr>
          <a:lstStyle/>
          <a:p>
            <a:pPr>
              <a:defRPr sz="900">
                <a:solidFill>
                  <a:srgbClr val="666666"/>
                </a:solidFill>
              </a:defRPr>
            </a:pPr>
            <a:r>
              <a:t>SFB 1709 · B01 · STAMP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822960"/>
          </a:xfrm>
          <a:prstGeom prst="rect">
            <a:avLst/>
          </a:prstGeom>
          <a:noFill/>
        </p:spPr>
        <p:txBody>
          <a:bodyPr wrap="square">
            <a:spAutoFit/>
          </a:bodyPr>
          <a:lstStyle/>
          <a:p>
            <a:pPr>
              <a:defRPr sz="2800" b="1">
                <a:solidFill>
                  <a:srgbClr val="1A4D8C"/>
                </a:solidFill>
              </a:defRPr>
            </a:pPr>
            <a:r>
              <a:t>Project B01: approach</a:t>
            </a:r>
          </a:p>
        </p:txBody>
      </p:sp>
      <p:sp>
        <p:nvSpPr>
          <p:cNvPr id="3" name="Rectangle 2"/>
          <p:cNvSpPr/>
          <p:nvPr/>
        </p:nvSpPr>
        <p:spPr>
          <a:xfrm>
            <a:off x="0" y="1170432"/>
            <a:ext cx="12191695" cy="38100"/>
          </a:xfrm>
          <a:prstGeom prst="rect">
            <a:avLst/>
          </a:prstGeom>
          <a:solidFill>
            <a:srgbClr val="1A4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43584"/>
            <a:ext cx="11247120" cy="457200"/>
          </a:xfrm>
          <a:prstGeom prst="rect">
            <a:avLst/>
          </a:prstGeom>
          <a:noFill/>
        </p:spPr>
        <p:txBody>
          <a:bodyPr wrap="square">
            <a:spAutoFit/>
          </a:bodyPr>
          <a:lstStyle/>
          <a:p>
            <a:pPr>
              <a:defRPr sz="1400" i="1">
                <a:solidFill>
                  <a:srgbClr val="666666"/>
                </a:solidFill>
              </a:defRPr>
            </a:pPr>
            <a:r>
              <a:t>Image morphology + single-cell transcriptomics, integrated on the same patients.</a:t>
            </a:r>
          </a:p>
        </p:txBody>
      </p:sp>
      <p:sp>
        <p:nvSpPr>
          <p:cNvPr id="5" name="TextBox 4"/>
          <p:cNvSpPr txBox="1"/>
          <p:nvPr/>
        </p:nvSpPr>
        <p:spPr>
          <a:xfrm>
            <a:off x="548640" y="1874519"/>
            <a:ext cx="11155680" cy="4114800"/>
          </a:xfrm>
          <a:prstGeom prst="rect">
            <a:avLst/>
          </a:prstGeom>
          <a:noFill/>
        </p:spPr>
        <p:txBody>
          <a:bodyPr wrap="square">
            <a:spAutoFit/>
          </a:bodyPr>
          <a:lstStyle/>
          <a:p>
            <a:pPr>
              <a:spcAft>
                <a:spcPts val="700"/>
              </a:spcAft>
              <a:defRPr sz="2000">
                <a:solidFill>
                  <a:srgbClr val="222222"/>
                </a:solidFill>
              </a:defRPr>
            </a:pPr>
            <a:r>
              <a:t>• Hypothesis: cytologic variability of blasts encodes treatment response.</a:t>
            </a:r>
          </a:p>
          <a:p>
            <a:pPr>
              <a:spcAft>
                <a:spcPts val="700"/>
              </a:spcAft>
              <a:defRPr sz="2000">
                <a:solidFill>
                  <a:srgbClr val="222222"/>
                </a:solidFill>
              </a:defRPr>
            </a:pPr>
            <a:r>
              <a:t>• Two modalities on paired diagnosis/relapse samples:</a:t>
            </a:r>
          </a:p>
          <a:p>
            <a:pPr lvl="1">
              <a:spcAft>
                <a:spcPts val="700"/>
              </a:spcAft>
              <a:defRPr sz="1800">
                <a:solidFill>
                  <a:srgbClr val="666666"/>
                </a:solidFill>
              </a:defRPr>
            </a:pPr>
            <a:r>
              <a:t>– Computational image analysis of blast morphology (this work).</a:t>
            </a:r>
          </a:p>
          <a:p>
            <a:pPr lvl="1">
              <a:spcAft>
                <a:spcPts val="700"/>
              </a:spcAft>
              <a:defRPr sz="1800">
                <a:solidFill>
                  <a:srgbClr val="666666"/>
                </a:solidFill>
              </a:defRPr>
            </a:pPr>
            <a:r>
              <a:t>– Single-cell RNA sequencing of the same samples.</a:t>
            </a:r>
          </a:p>
          <a:p>
            <a:pPr>
              <a:spcAft>
                <a:spcPts val="700"/>
              </a:spcAft>
              <a:defRPr sz="2000">
                <a:solidFill>
                  <a:srgbClr val="222222"/>
                </a:solidFill>
              </a:defRPr>
            </a:pPr>
            <a:r>
              <a:t>• Aim: predict response and identify candidate VEN/AZA biomarkers.</a:t>
            </a:r>
          </a:p>
        </p:txBody>
      </p:sp>
      <p:sp>
        <p:nvSpPr>
          <p:cNvPr id="6" name="TextBox 5"/>
          <p:cNvSpPr txBox="1"/>
          <p:nvPr/>
        </p:nvSpPr>
        <p:spPr>
          <a:xfrm>
            <a:off x="365760" y="6446520"/>
            <a:ext cx="11430000" cy="320040"/>
          </a:xfrm>
          <a:prstGeom prst="rect">
            <a:avLst/>
          </a:prstGeom>
          <a:noFill/>
        </p:spPr>
        <p:txBody>
          <a:bodyPr wrap="none">
            <a:spAutoFit/>
          </a:bodyPr>
          <a:lstStyle/>
          <a:p>
            <a:pPr>
              <a:defRPr sz="900">
                <a:solidFill>
                  <a:srgbClr val="666666"/>
                </a:solidFill>
              </a:defRPr>
            </a:pPr>
            <a:r>
              <a:t>SFB 1709 · B01 · STAMP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822960"/>
          </a:xfrm>
          <a:prstGeom prst="rect">
            <a:avLst/>
          </a:prstGeom>
          <a:noFill/>
        </p:spPr>
        <p:txBody>
          <a:bodyPr wrap="square">
            <a:spAutoFit/>
          </a:bodyPr>
          <a:lstStyle/>
          <a:p>
            <a:pPr>
              <a:defRPr sz="2800" b="1">
                <a:solidFill>
                  <a:srgbClr val="1A4D8C"/>
                </a:solidFill>
              </a:defRPr>
            </a:pPr>
            <a:r>
              <a:t>Cohort and cross-validation design</a:t>
            </a:r>
          </a:p>
        </p:txBody>
      </p:sp>
      <p:sp>
        <p:nvSpPr>
          <p:cNvPr id="3" name="Rectangle 2"/>
          <p:cNvSpPr/>
          <p:nvPr/>
        </p:nvSpPr>
        <p:spPr>
          <a:xfrm>
            <a:off x="0" y="1170432"/>
            <a:ext cx="12191695" cy="38100"/>
          </a:xfrm>
          <a:prstGeom prst="rect">
            <a:avLst/>
          </a:prstGeom>
          <a:solidFill>
            <a:srgbClr val="1A4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43584"/>
            <a:ext cx="11247120" cy="457200"/>
          </a:xfrm>
          <a:prstGeom prst="rect">
            <a:avLst/>
          </a:prstGeom>
          <a:noFill/>
        </p:spPr>
        <p:txBody>
          <a:bodyPr wrap="square">
            <a:spAutoFit/>
          </a:bodyPr>
          <a:lstStyle/>
          <a:p>
            <a:pPr>
              <a:defRPr sz="1400" i="1">
                <a:solidFill>
                  <a:srgbClr val="666666"/>
                </a:solidFill>
              </a:defRPr>
            </a:pPr>
            <a:r>
              <a:t>Weakly supervised — one clinical label per sample, no cell-level annotation.</a:t>
            </a:r>
          </a:p>
        </p:txBody>
      </p:sp>
      <p:pic>
        <p:nvPicPr>
          <p:cNvPr id="5" name="Picture 4" descr="fig_cohort_cv.png"/>
          <p:cNvPicPr>
            <a:picLocks noChangeAspect="1"/>
          </p:cNvPicPr>
          <p:nvPr/>
        </p:nvPicPr>
        <p:blipFill>
          <a:blip r:embed="rId2"/>
          <a:stretch>
            <a:fillRect/>
          </a:stretch>
        </p:blipFill>
        <p:spPr>
          <a:xfrm>
            <a:off x="457200" y="2382594"/>
            <a:ext cx="11247120" cy="3098650"/>
          </a:xfrm>
          <a:prstGeom prst="rect">
            <a:avLst/>
          </a:prstGeom>
        </p:spPr>
      </p:pic>
      <p:sp>
        <p:nvSpPr>
          <p:cNvPr id="6" name="TextBox 5"/>
          <p:cNvSpPr txBox="1"/>
          <p:nvPr/>
        </p:nvSpPr>
        <p:spPr>
          <a:xfrm>
            <a:off x="457200" y="6080760"/>
            <a:ext cx="11247120" cy="457200"/>
          </a:xfrm>
          <a:prstGeom prst="rect">
            <a:avLst/>
          </a:prstGeom>
          <a:noFill/>
        </p:spPr>
        <p:txBody>
          <a:bodyPr wrap="square">
            <a:spAutoFit/>
          </a:bodyPr>
          <a:lstStyle/>
          <a:p>
            <a:pPr>
              <a:defRPr sz="1300" i="1">
                <a:solidFill>
                  <a:srgbClr val="666666"/>
                </a:solidFill>
              </a:defRPr>
            </a:pPr>
            <a:r>
              <a:t>69 patients · 489 bone-marrow samples · 511 slide images. Because there are ~7 smears per patient, folds must be grouped by patient (next slide).</a:t>
            </a:r>
          </a:p>
        </p:txBody>
      </p:sp>
      <p:sp>
        <p:nvSpPr>
          <p:cNvPr id="7" name="TextBox 6"/>
          <p:cNvSpPr txBox="1"/>
          <p:nvPr/>
        </p:nvSpPr>
        <p:spPr>
          <a:xfrm>
            <a:off x="365760" y="6446520"/>
            <a:ext cx="11430000" cy="320040"/>
          </a:xfrm>
          <a:prstGeom prst="rect">
            <a:avLst/>
          </a:prstGeom>
          <a:noFill/>
        </p:spPr>
        <p:txBody>
          <a:bodyPr wrap="none">
            <a:spAutoFit/>
          </a:bodyPr>
          <a:lstStyle/>
          <a:p>
            <a:pPr>
              <a:defRPr sz="900">
                <a:solidFill>
                  <a:srgbClr val="666666"/>
                </a:solidFill>
              </a:defRPr>
            </a:pPr>
            <a:r>
              <a:t>SFB 1709 · B01 · STAMP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822960"/>
          </a:xfrm>
          <a:prstGeom prst="rect">
            <a:avLst/>
          </a:prstGeom>
          <a:noFill/>
        </p:spPr>
        <p:txBody>
          <a:bodyPr wrap="square">
            <a:spAutoFit/>
          </a:bodyPr>
          <a:lstStyle/>
          <a:p>
            <a:pPr>
              <a:defRPr sz="2800" b="1">
                <a:solidFill>
                  <a:srgbClr val="1A4D8C"/>
                </a:solidFill>
              </a:defRPr>
            </a:pPr>
            <a:r>
              <a:t>Evaluation: avoiding data leakage</a:t>
            </a:r>
          </a:p>
        </p:txBody>
      </p:sp>
      <p:sp>
        <p:nvSpPr>
          <p:cNvPr id="3" name="Rectangle 2"/>
          <p:cNvSpPr/>
          <p:nvPr/>
        </p:nvSpPr>
        <p:spPr>
          <a:xfrm>
            <a:off x="0" y="1170432"/>
            <a:ext cx="12191695" cy="38100"/>
          </a:xfrm>
          <a:prstGeom prst="rect">
            <a:avLst/>
          </a:prstGeom>
          <a:solidFill>
            <a:srgbClr val="1A4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43584"/>
            <a:ext cx="11247120" cy="457200"/>
          </a:xfrm>
          <a:prstGeom prst="rect">
            <a:avLst/>
          </a:prstGeom>
          <a:noFill/>
        </p:spPr>
        <p:txBody>
          <a:bodyPr wrap="square">
            <a:spAutoFit/>
          </a:bodyPr>
          <a:lstStyle/>
          <a:p>
            <a:pPr>
              <a:defRPr sz="1400" i="1">
                <a:solidFill>
                  <a:srgbClr val="666666"/>
                </a:solidFill>
              </a:defRPr>
            </a:pPr>
            <a:r>
              <a:t>We re-ran every task with patient-grouped CV; the honest numbers follow.</a:t>
            </a:r>
          </a:p>
        </p:txBody>
      </p:sp>
      <p:sp>
        <p:nvSpPr>
          <p:cNvPr id="5" name="TextBox 4"/>
          <p:cNvSpPr txBox="1"/>
          <p:nvPr/>
        </p:nvSpPr>
        <p:spPr>
          <a:xfrm>
            <a:off x="548640" y="1874519"/>
            <a:ext cx="11155680" cy="4114800"/>
          </a:xfrm>
          <a:prstGeom prst="rect">
            <a:avLst/>
          </a:prstGeom>
          <a:noFill/>
        </p:spPr>
        <p:txBody>
          <a:bodyPr wrap="square">
            <a:spAutoFit/>
          </a:bodyPr>
          <a:lstStyle/>
          <a:p>
            <a:pPr>
              <a:spcAft>
                <a:spcPts val="700"/>
              </a:spcAft>
              <a:defRPr sz="2000">
                <a:solidFill>
                  <a:srgbClr val="222222"/>
                </a:solidFill>
              </a:defRPr>
            </a:pPr>
            <a:r>
              <a:t>• RESPONSE_CR is a patient-level outcome, copied onto all ~7 of a patient's smears.</a:t>
            </a:r>
          </a:p>
          <a:p>
            <a:pPr>
              <a:spcAft>
                <a:spcPts val="700"/>
              </a:spcAft>
              <a:defRPr sz="2000">
                <a:solidFill>
                  <a:srgbClr val="222222"/>
                </a:solidFill>
              </a:defRPr>
            </a:pPr>
            <a:r>
              <a:t>• If folds split by sample, a patient's other smears can sit in training while one is tested — leakage.</a:t>
            </a:r>
          </a:p>
          <a:p>
            <a:pPr>
              <a:spcAft>
                <a:spcPts val="700"/>
              </a:spcAft>
              <a:defRPr sz="2000">
                <a:solidFill>
                  <a:srgbClr val="222222"/>
                </a:solidFill>
              </a:defRPr>
            </a:pPr>
            <a:r>
              <a:t>• Fix: group folds by PATIENT (StratifiedGroupKFold) — no patient spans train and test.</a:t>
            </a:r>
          </a:p>
          <a:p>
            <a:pPr>
              <a:spcAft>
                <a:spcPts val="700"/>
              </a:spcAft>
              <a:defRPr sz="2000">
                <a:solidFill>
                  <a:srgbClr val="222222"/>
                </a:solidFill>
              </a:defRPr>
            </a:pPr>
            <a:r>
              <a:t>• Effect is real: sample-split vs patient-grouped AUROC differs by +0.05 (RESPONSE_CR) and +0.03 (HIGH_BLAST).</a:t>
            </a:r>
          </a:p>
          <a:p>
            <a:pPr>
              <a:spcAft>
                <a:spcPts val="700"/>
              </a:spcAft>
              <a:defRPr sz="2000">
                <a:solidFill>
                  <a:srgbClr val="222222"/>
                </a:solidFill>
              </a:defRPr>
            </a:pPr>
            <a:r>
              <a:t>• All results shown here are patient-grouped.</a:t>
            </a:r>
          </a:p>
        </p:txBody>
      </p:sp>
      <p:sp>
        <p:nvSpPr>
          <p:cNvPr id="6" name="TextBox 5"/>
          <p:cNvSpPr txBox="1"/>
          <p:nvPr/>
        </p:nvSpPr>
        <p:spPr>
          <a:xfrm>
            <a:off x="365760" y="6446520"/>
            <a:ext cx="11430000" cy="320040"/>
          </a:xfrm>
          <a:prstGeom prst="rect">
            <a:avLst/>
          </a:prstGeom>
          <a:noFill/>
        </p:spPr>
        <p:txBody>
          <a:bodyPr wrap="none">
            <a:spAutoFit/>
          </a:bodyPr>
          <a:lstStyle/>
          <a:p>
            <a:pPr>
              <a:defRPr sz="900">
                <a:solidFill>
                  <a:srgbClr val="666666"/>
                </a:solidFill>
              </a:defRPr>
            </a:pPr>
            <a:r>
              <a:t>SFB 1709 · B01 · STAMP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822960"/>
          </a:xfrm>
          <a:prstGeom prst="rect">
            <a:avLst/>
          </a:prstGeom>
          <a:noFill/>
        </p:spPr>
        <p:txBody>
          <a:bodyPr wrap="square">
            <a:spAutoFit/>
          </a:bodyPr>
          <a:lstStyle/>
          <a:p>
            <a:pPr>
              <a:defRPr sz="2800" b="1">
                <a:solidFill>
                  <a:srgbClr val="1A4D8C"/>
                </a:solidFill>
              </a:defRPr>
            </a:pPr>
            <a:r>
              <a:t>Clinical label distribution</a:t>
            </a:r>
          </a:p>
        </p:txBody>
      </p:sp>
      <p:sp>
        <p:nvSpPr>
          <p:cNvPr id="3" name="Rectangle 2"/>
          <p:cNvSpPr/>
          <p:nvPr/>
        </p:nvSpPr>
        <p:spPr>
          <a:xfrm>
            <a:off x="0" y="1170432"/>
            <a:ext cx="12191695" cy="38100"/>
          </a:xfrm>
          <a:prstGeom prst="rect">
            <a:avLst/>
          </a:prstGeom>
          <a:solidFill>
            <a:srgbClr val="1A4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43584"/>
            <a:ext cx="11247120" cy="457200"/>
          </a:xfrm>
          <a:prstGeom prst="rect">
            <a:avLst/>
          </a:prstGeom>
          <a:noFill/>
        </p:spPr>
        <p:txBody>
          <a:bodyPr wrap="square">
            <a:spAutoFit/>
          </a:bodyPr>
          <a:lstStyle/>
          <a:p>
            <a:pPr>
              <a:defRPr sz="1400" i="1">
                <a:solidFill>
                  <a:srgbClr val="666666"/>
                </a:solidFill>
              </a:defRPr>
            </a:pPr>
            <a:r>
              <a:t>Four prediction targets derived from the clinical table.</a:t>
            </a:r>
          </a:p>
        </p:txBody>
      </p:sp>
      <p:pic>
        <p:nvPicPr>
          <p:cNvPr id="5" name="Picture 4" descr="fig_labels.png"/>
          <p:cNvPicPr>
            <a:picLocks noChangeAspect="1"/>
          </p:cNvPicPr>
          <p:nvPr/>
        </p:nvPicPr>
        <p:blipFill>
          <a:blip r:embed="rId2"/>
          <a:stretch>
            <a:fillRect/>
          </a:stretch>
        </p:blipFill>
        <p:spPr>
          <a:xfrm>
            <a:off x="457200" y="2435154"/>
            <a:ext cx="11247120" cy="2993530"/>
          </a:xfrm>
          <a:prstGeom prst="rect">
            <a:avLst/>
          </a:prstGeom>
        </p:spPr>
      </p:pic>
      <p:sp>
        <p:nvSpPr>
          <p:cNvPr id="6" name="TextBox 5"/>
          <p:cNvSpPr txBox="1"/>
          <p:nvPr/>
        </p:nvSpPr>
        <p:spPr>
          <a:xfrm>
            <a:off x="457200" y="6080760"/>
            <a:ext cx="11247120" cy="457200"/>
          </a:xfrm>
          <a:prstGeom prst="rect">
            <a:avLst/>
          </a:prstGeom>
          <a:noFill/>
        </p:spPr>
        <p:txBody>
          <a:bodyPr wrap="square">
            <a:spAutoFit/>
          </a:bodyPr>
          <a:lstStyle/>
          <a:p>
            <a:pPr>
              <a:defRPr sz="1300" i="1">
                <a:solidFill>
                  <a:srgbClr val="666666"/>
                </a:solidFill>
              </a:defRPr>
            </a:pPr>
            <a:r>
              <a:t>Classes are imbalanced (98/489 high-blast; most samples &lt;5% blasts) — we report AUROC, AUPRC and calibration accordingly.</a:t>
            </a:r>
          </a:p>
        </p:txBody>
      </p:sp>
      <p:sp>
        <p:nvSpPr>
          <p:cNvPr id="7" name="TextBox 6"/>
          <p:cNvSpPr txBox="1"/>
          <p:nvPr/>
        </p:nvSpPr>
        <p:spPr>
          <a:xfrm>
            <a:off x="365760" y="6446520"/>
            <a:ext cx="11430000" cy="320040"/>
          </a:xfrm>
          <a:prstGeom prst="rect">
            <a:avLst/>
          </a:prstGeom>
          <a:noFill/>
        </p:spPr>
        <p:txBody>
          <a:bodyPr wrap="none">
            <a:spAutoFit/>
          </a:bodyPr>
          <a:lstStyle/>
          <a:p>
            <a:pPr>
              <a:defRPr sz="900">
                <a:solidFill>
                  <a:srgbClr val="666666"/>
                </a:solidFill>
              </a:defRPr>
            </a:pPr>
            <a:r>
              <a:t>SFB 1709 · B01 · STAMP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822960"/>
          </a:xfrm>
          <a:prstGeom prst="rect">
            <a:avLst/>
          </a:prstGeom>
          <a:noFill/>
        </p:spPr>
        <p:txBody>
          <a:bodyPr wrap="square">
            <a:spAutoFit/>
          </a:bodyPr>
          <a:lstStyle/>
          <a:p>
            <a:pPr>
              <a:defRPr sz="2800" b="1">
                <a:solidFill>
                  <a:srgbClr val="1A4D8C"/>
                </a:solidFill>
              </a:defRPr>
            </a:pPr>
            <a:r>
              <a:t>Method: the STAMP pipeline</a:t>
            </a:r>
          </a:p>
        </p:txBody>
      </p:sp>
      <p:sp>
        <p:nvSpPr>
          <p:cNvPr id="3" name="Rectangle 2"/>
          <p:cNvSpPr/>
          <p:nvPr/>
        </p:nvSpPr>
        <p:spPr>
          <a:xfrm>
            <a:off x="0" y="1170432"/>
            <a:ext cx="12191695" cy="38100"/>
          </a:xfrm>
          <a:prstGeom prst="rect">
            <a:avLst/>
          </a:prstGeom>
          <a:solidFill>
            <a:srgbClr val="1A4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43584"/>
            <a:ext cx="11247120" cy="457200"/>
          </a:xfrm>
          <a:prstGeom prst="rect">
            <a:avLst/>
          </a:prstGeom>
          <a:noFill/>
        </p:spPr>
        <p:txBody>
          <a:bodyPr wrap="square">
            <a:spAutoFit/>
          </a:bodyPr>
          <a:lstStyle/>
          <a:p>
            <a:pPr>
              <a:defRPr sz="1400" i="1">
                <a:solidFill>
                  <a:srgbClr val="666666"/>
                </a:solidFill>
              </a:defRPr>
            </a:pPr>
            <a:r>
              <a:t>WSI → tiling + QC → UNI2 tile features → ViT-MIL aggregation → patient-grouped CV.</a:t>
            </a:r>
          </a:p>
        </p:txBody>
      </p:sp>
      <p:pic>
        <p:nvPicPr>
          <p:cNvPr id="5" name="Picture 4" descr="fig_workflow.png"/>
          <p:cNvPicPr>
            <a:picLocks noChangeAspect="1"/>
          </p:cNvPicPr>
          <p:nvPr/>
        </p:nvPicPr>
        <p:blipFill>
          <a:blip r:embed="rId2"/>
          <a:stretch>
            <a:fillRect/>
          </a:stretch>
        </p:blipFill>
        <p:spPr>
          <a:xfrm>
            <a:off x="457200" y="2706436"/>
            <a:ext cx="11247120" cy="2450966"/>
          </a:xfrm>
          <a:prstGeom prst="rect">
            <a:avLst/>
          </a:prstGeom>
        </p:spPr>
      </p:pic>
      <p:sp>
        <p:nvSpPr>
          <p:cNvPr id="6" name="TextBox 5"/>
          <p:cNvSpPr txBox="1"/>
          <p:nvPr/>
        </p:nvSpPr>
        <p:spPr>
          <a:xfrm>
            <a:off x="457200" y="6080760"/>
            <a:ext cx="11247120" cy="457200"/>
          </a:xfrm>
          <a:prstGeom prst="rect">
            <a:avLst/>
          </a:prstGeom>
          <a:noFill/>
        </p:spPr>
        <p:txBody>
          <a:bodyPr wrap="square">
            <a:spAutoFit/>
          </a:bodyPr>
          <a:lstStyle/>
          <a:p>
            <a:pPr>
              <a:defRPr sz="1300" i="1">
                <a:solidFill>
                  <a:srgbClr val="666666"/>
                </a:solidFill>
              </a:defRPr>
            </a:pPr>
            <a:r>
              <a:t>Tile + QC each slide; embed tiles with the UNI2 foundation model; aggregate with an attention Transformer (MIL); heatmaps expose the evidence.</a:t>
            </a:r>
          </a:p>
        </p:txBody>
      </p:sp>
      <p:sp>
        <p:nvSpPr>
          <p:cNvPr id="7" name="TextBox 6"/>
          <p:cNvSpPr txBox="1"/>
          <p:nvPr/>
        </p:nvSpPr>
        <p:spPr>
          <a:xfrm>
            <a:off x="365760" y="6446520"/>
            <a:ext cx="11430000" cy="320040"/>
          </a:xfrm>
          <a:prstGeom prst="rect">
            <a:avLst/>
          </a:prstGeom>
          <a:noFill/>
        </p:spPr>
        <p:txBody>
          <a:bodyPr wrap="none">
            <a:spAutoFit/>
          </a:bodyPr>
          <a:lstStyle/>
          <a:p>
            <a:pPr>
              <a:defRPr sz="900">
                <a:solidFill>
                  <a:srgbClr val="666666"/>
                </a:solidFill>
              </a:defRPr>
            </a:pPr>
            <a:r>
              <a:t>SFB 1709 · B01 · STAMP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822960"/>
          </a:xfrm>
          <a:prstGeom prst="rect">
            <a:avLst/>
          </a:prstGeom>
          <a:noFill/>
        </p:spPr>
        <p:txBody>
          <a:bodyPr wrap="square">
            <a:spAutoFit/>
          </a:bodyPr>
          <a:lstStyle/>
          <a:p>
            <a:pPr>
              <a:defRPr sz="2800" b="1">
                <a:solidFill>
                  <a:srgbClr val="1A4D8C"/>
                </a:solidFill>
              </a:defRPr>
            </a:pPr>
            <a:r>
              <a:t>Experiments</a:t>
            </a:r>
          </a:p>
        </p:txBody>
      </p:sp>
      <p:sp>
        <p:nvSpPr>
          <p:cNvPr id="3" name="Rectangle 2"/>
          <p:cNvSpPr/>
          <p:nvPr/>
        </p:nvSpPr>
        <p:spPr>
          <a:xfrm>
            <a:off x="0" y="1170432"/>
            <a:ext cx="12191695" cy="38100"/>
          </a:xfrm>
          <a:prstGeom prst="rect">
            <a:avLst/>
          </a:prstGeom>
          <a:solidFill>
            <a:srgbClr val="1A4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57200" y="1600200"/>
          <a:ext cx="11247120" cy="4023360"/>
        </p:xfrm>
        <a:graphic>
          <a:graphicData uri="http://schemas.openxmlformats.org/drawingml/2006/table">
            <a:tbl>
              <a:tblPr firstRow="1" bandRow="1">
                <a:tableStyleId>{5C22544A-7EE6-4342-B048-85BDC9FD1C3A}</a:tableStyleId>
              </a:tblPr>
              <a:tblGrid>
                <a:gridCol w="640080"/>
                <a:gridCol w="3931920"/>
                <a:gridCol w="6675120"/>
              </a:tblGrid>
              <a:tr h="502920">
                <a:tc>
                  <a:txBody>
                    <a:bodyPr/>
                    <a:lstStyle/>
                    <a:p>
                      <a:pPr>
                        <a:defRPr sz="1500" b="1">
                          <a:solidFill>
                            <a:srgbClr val="FFFFFF"/>
                          </a:solidFill>
                        </a:defRPr>
                      </a:pPr>
                      <a:r>
                        <a:t>#</a:t>
                      </a:r>
                    </a:p>
                  </a:txBody>
                  <a:tcPr>
                    <a:solidFill>
                      <a:srgbClr val="1A4D8C"/>
                    </a:solidFill>
                  </a:tcPr>
                </a:tc>
                <a:tc>
                  <a:txBody>
                    <a:bodyPr/>
                    <a:lstStyle/>
                    <a:p>
                      <a:pPr>
                        <a:defRPr sz="1500" b="1">
                          <a:solidFill>
                            <a:srgbClr val="FFFFFF"/>
                          </a:solidFill>
                        </a:defRPr>
                      </a:pPr>
                      <a:r>
                        <a:t>Experiment</a:t>
                      </a:r>
                    </a:p>
                  </a:txBody>
                  <a:tcPr>
                    <a:solidFill>
                      <a:srgbClr val="1A4D8C"/>
                    </a:solidFill>
                  </a:tcPr>
                </a:tc>
                <a:tc>
                  <a:txBody>
                    <a:bodyPr/>
                    <a:lstStyle/>
                    <a:p>
                      <a:pPr>
                        <a:defRPr sz="1500" b="1">
                          <a:solidFill>
                            <a:srgbClr val="FFFFFF"/>
                          </a:solidFill>
                        </a:defRPr>
                      </a:pPr>
                      <a:r>
                        <a:t>What we asked</a:t>
                      </a:r>
                    </a:p>
                  </a:txBody>
                  <a:tcPr>
                    <a:solidFill>
                      <a:srgbClr val="1A4D8C"/>
                    </a:solidFill>
                  </a:tcPr>
                </a:tc>
              </a:tr>
              <a:tr h="502920">
                <a:tc>
                  <a:txBody>
                    <a:bodyPr/>
                    <a:lstStyle/>
                    <a:p>
                      <a:pPr>
                        <a:defRPr sz="1500">
                          <a:solidFill>
                            <a:srgbClr val="222222"/>
                          </a:solidFill>
                        </a:defRPr>
                      </a:pPr>
                      <a:r>
                        <a:t>1</a:t>
                      </a:r>
                    </a:p>
                  </a:txBody>
                  <a:tcPr>
                    <a:solidFill>
                      <a:srgbClr val="FFFFFF"/>
                    </a:solidFill>
                  </a:tcPr>
                </a:tc>
                <a:tc>
                  <a:txBody>
                    <a:bodyPr/>
                    <a:lstStyle/>
                    <a:p>
                      <a:pPr>
                        <a:defRPr sz="1500">
                          <a:solidFill>
                            <a:srgbClr val="222222"/>
                          </a:solidFill>
                        </a:defRPr>
                      </a:pPr>
                      <a:r>
                        <a:t>RESPONSE_CR</a:t>
                      </a:r>
                    </a:p>
                  </a:txBody>
                  <a:tcPr>
                    <a:solidFill>
                      <a:srgbClr val="FFFFFF"/>
                    </a:solidFill>
                  </a:tcPr>
                </a:tc>
                <a:tc>
                  <a:txBody>
                    <a:bodyPr/>
                    <a:lstStyle/>
                    <a:p>
                      <a:pPr>
                        <a:defRPr sz="1500">
                          <a:solidFill>
                            <a:srgbClr val="222222"/>
                          </a:solidFill>
                        </a:defRPr>
                      </a:pPr>
                      <a:r>
                        <a:t>Predict complete remission from the smear</a:t>
                      </a:r>
                    </a:p>
                  </a:txBody>
                  <a:tcPr>
                    <a:solidFill>
                      <a:srgbClr val="FFFFFF"/>
                    </a:solidFill>
                  </a:tcPr>
                </a:tc>
              </a:tr>
              <a:tr h="502920">
                <a:tc>
                  <a:txBody>
                    <a:bodyPr/>
                    <a:lstStyle/>
                    <a:p>
                      <a:pPr>
                        <a:defRPr sz="1500">
                          <a:solidFill>
                            <a:srgbClr val="222222"/>
                          </a:solidFill>
                        </a:defRPr>
                      </a:pPr>
                      <a:r>
                        <a:t>2</a:t>
                      </a:r>
                    </a:p>
                  </a:txBody>
                  <a:tcPr>
                    <a:solidFill>
                      <a:srgbClr val="EEEFF7"/>
                    </a:solidFill>
                  </a:tcPr>
                </a:tc>
                <a:tc>
                  <a:txBody>
                    <a:bodyPr/>
                    <a:lstStyle/>
                    <a:p>
                      <a:pPr>
                        <a:defRPr sz="1500">
                          <a:solidFill>
                            <a:srgbClr val="222222"/>
                          </a:solidFill>
                        </a:defRPr>
                      </a:pPr>
                      <a:r>
                        <a:t>HIGH_BLAST</a:t>
                      </a:r>
                    </a:p>
                  </a:txBody>
                  <a:tcPr>
                    <a:solidFill>
                      <a:srgbClr val="EEEFF7"/>
                    </a:solidFill>
                  </a:tcPr>
                </a:tc>
                <a:tc>
                  <a:txBody>
                    <a:bodyPr/>
                    <a:lstStyle/>
                    <a:p>
                      <a:pPr>
                        <a:defRPr sz="1500">
                          <a:solidFill>
                            <a:srgbClr val="222222"/>
                          </a:solidFill>
                        </a:defRPr>
                      </a:pPr>
                      <a:r>
                        <a:t>Flag high blast burden</a:t>
                      </a:r>
                    </a:p>
                  </a:txBody>
                  <a:tcPr>
                    <a:solidFill>
                      <a:srgbClr val="EEEFF7"/>
                    </a:solidFill>
                  </a:tcPr>
                </a:tc>
              </a:tr>
              <a:tr h="502920">
                <a:tc>
                  <a:txBody>
                    <a:bodyPr/>
                    <a:lstStyle/>
                    <a:p>
                      <a:pPr>
                        <a:defRPr sz="1500">
                          <a:solidFill>
                            <a:srgbClr val="222222"/>
                          </a:solidFill>
                        </a:defRPr>
                      </a:pPr>
                      <a:r>
                        <a:t>3</a:t>
                      </a:r>
                    </a:p>
                  </a:txBody>
                  <a:tcPr>
                    <a:solidFill>
                      <a:srgbClr val="FFFFFF"/>
                    </a:solidFill>
                  </a:tcPr>
                </a:tc>
                <a:tc>
                  <a:txBody>
                    <a:bodyPr/>
                    <a:lstStyle/>
                    <a:p>
                      <a:pPr>
                        <a:defRPr sz="1500">
                          <a:solidFill>
                            <a:srgbClr val="222222"/>
                          </a:solidFill>
                        </a:defRPr>
                      </a:pPr>
                      <a:r>
                        <a:t>BLAST_SEVERITY</a:t>
                      </a:r>
                    </a:p>
                  </a:txBody>
                  <a:tcPr>
                    <a:solidFill>
                      <a:srgbClr val="FFFFFF"/>
                    </a:solidFill>
                  </a:tcPr>
                </a:tc>
                <a:tc>
                  <a:txBody>
                    <a:bodyPr/>
                    <a:lstStyle/>
                    <a:p>
                      <a:pPr>
                        <a:defRPr sz="1500">
                          <a:solidFill>
                            <a:srgbClr val="222222"/>
                          </a:solidFill>
                        </a:defRPr>
                      </a:pPr>
                      <a:r>
                        <a:t>Grade blast burden (low/interm./high)</a:t>
                      </a:r>
                    </a:p>
                  </a:txBody>
                  <a:tcPr>
                    <a:solidFill>
                      <a:srgbClr val="FFFFFF"/>
                    </a:solidFill>
                  </a:tcPr>
                </a:tc>
              </a:tr>
              <a:tr h="502920">
                <a:tc>
                  <a:txBody>
                    <a:bodyPr/>
                    <a:lstStyle/>
                    <a:p>
                      <a:pPr>
                        <a:defRPr sz="1500">
                          <a:solidFill>
                            <a:srgbClr val="222222"/>
                          </a:solidFill>
                        </a:defRPr>
                      </a:pPr>
                      <a:r>
                        <a:t>4</a:t>
                      </a:r>
                    </a:p>
                  </a:txBody>
                  <a:tcPr>
                    <a:solidFill>
                      <a:srgbClr val="EEEFF7"/>
                    </a:solidFill>
                  </a:tcPr>
                </a:tc>
                <a:tc>
                  <a:txBody>
                    <a:bodyPr/>
                    <a:lstStyle/>
                    <a:p>
                      <a:pPr>
                        <a:defRPr sz="1500">
                          <a:solidFill>
                            <a:srgbClr val="222222"/>
                          </a:solidFill>
                        </a:defRPr>
                      </a:pPr>
                      <a:r>
                        <a:t>BLAST_PERCENT</a:t>
                      </a:r>
                    </a:p>
                  </a:txBody>
                  <a:tcPr>
                    <a:solidFill>
                      <a:srgbClr val="EEEFF7"/>
                    </a:solidFill>
                  </a:tcPr>
                </a:tc>
                <a:tc>
                  <a:txBody>
                    <a:bodyPr/>
                    <a:lstStyle/>
                    <a:p>
                      <a:pPr>
                        <a:defRPr sz="1500">
                          <a:solidFill>
                            <a:srgbClr val="222222"/>
                          </a:solidFill>
                        </a:defRPr>
                      </a:pPr>
                      <a:r>
                        <a:t>Regress the exact % of blasts</a:t>
                      </a:r>
                    </a:p>
                  </a:txBody>
                  <a:tcPr>
                    <a:solidFill>
                      <a:srgbClr val="EEEFF7"/>
                    </a:solidFill>
                  </a:tcPr>
                </a:tc>
              </a:tr>
              <a:tr h="502920">
                <a:tc>
                  <a:txBody>
                    <a:bodyPr/>
                    <a:lstStyle/>
                    <a:p>
                      <a:pPr>
                        <a:defRPr sz="1500">
                          <a:solidFill>
                            <a:srgbClr val="222222"/>
                          </a:solidFill>
                        </a:defRPr>
                      </a:pPr>
                      <a:r>
                        <a:t>5</a:t>
                      </a:r>
                    </a:p>
                  </a:txBody>
                  <a:tcPr>
                    <a:solidFill>
                      <a:srgbClr val="FFFFFF"/>
                    </a:solidFill>
                  </a:tcPr>
                </a:tc>
                <a:tc>
                  <a:txBody>
                    <a:bodyPr/>
                    <a:lstStyle/>
                    <a:p>
                      <a:pPr>
                        <a:defRPr sz="1500">
                          <a:solidFill>
                            <a:srgbClr val="222222"/>
                          </a:solidFill>
                        </a:defRPr>
                      </a:pPr>
                      <a:r>
                        <a:t>Explainability + triage</a:t>
                      </a:r>
                    </a:p>
                  </a:txBody>
                  <a:tcPr>
                    <a:solidFill>
                      <a:srgbClr val="FFFFFF"/>
                    </a:solidFill>
                  </a:tcPr>
                </a:tc>
                <a:tc>
                  <a:txBody>
                    <a:bodyPr/>
                    <a:lstStyle/>
                    <a:p>
                      <a:pPr>
                        <a:defRPr sz="1500">
                          <a:solidFill>
                            <a:srgbClr val="222222"/>
                          </a:solidFill>
                        </a:defRPr>
                      </a:pPr>
                      <a:r>
                        <a:t>Do the heatmaps point at real blasts?</a:t>
                      </a:r>
                    </a:p>
                  </a:txBody>
                  <a:tcPr>
                    <a:solidFill>
                      <a:srgbClr val="FFFFFF"/>
                    </a:solidFill>
                  </a:tcPr>
                </a:tc>
              </a:tr>
              <a:tr h="502920">
                <a:tc>
                  <a:txBody>
                    <a:bodyPr/>
                    <a:lstStyle/>
                    <a:p>
                      <a:pPr>
                        <a:defRPr sz="1500">
                          <a:solidFill>
                            <a:srgbClr val="222222"/>
                          </a:solidFill>
                        </a:defRPr>
                      </a:pPr>
                      <a:r>
                        <a:t>6</a:t>
                      </a:r>
                    </a:p>
                  </a:txBody>
                  <a:tcPr>
                    <a:solidFill>
                      <a:srgbClr val="EEEFF7"/>
                    </a:solidFill>
                  </a:tcPr>
                </a:tc>
                <a:tc>
                  <a:txBody>
                    <a:bodyPr/>
                    <a:lstStyle/>
                    <a:p>
                      <a:pPr>
                        <a:defRPr sz="1500">
                          <a:solidFill>
                            <a:srgbClr val="222222"/>
                          </a:solidFill>
                        </a:defRPr>
                      </a:pPr>
                      <a:r>
                        <a:t>Preprocessing / data QC</a:t>
                      </a:r>
                    </a:p>
                  </a:txBody>
                  <a:tcPr>
                    <a:solidFill>
                      <a:srgbClr val="EEEFF7"/>
                    </a:solidFill>
                  </a:tcPr>
                </a:tc>
                <a:tc>
                  <a:txBody>
                    <a:bodyPr/>
                    <a:lstStyle/>
                    <a:p>
                      <a:pPr>
                        <a:defRPr sz="1500">
                          <a:solidFill>
                            <a:srgbClr val="222222"/>
                          </a:solidFill>
                        </a:defRPr>
                      </a:pPr>
                      <a:r>
                        <a:t>Why do some slides lose most tiles?</a:t>
                      </a:r>
                    </a:p>
                  </a:txBody>
                  <a:tcPr>
                    <a:solidFill>
                      <a:srgbClr val="EEEFF7"/>
                    </a:solidFill>
                  </a:tcPr>
                </a:tc>
              </a:tr>
              <a:tr h="502920">
                <a:tc>
                  <a:txBody>
                    <a:bodyPr/>
                    <a:lstStyle/>
                    <a:p>
                      <a:pPr>
                        <a:defRPr sz="1500">
                          <a:solidFill>
                            <a:srgbClr val="222222"/>
                          </a:solidFill>
                        </a:defRPr>
                      </a:pPr>
                      <a:r>
                        <a:t>7</a:t>
                      </a:r>
                    </a:p>
                  </a:txBody>
                  <a:tcPr>
                    <a:solidFill>
                      <a:srgbClr val="FFFFFF"/>
                    </a:solidFill>
                  </a:tcPr>
                </a:tc>
                <a:tc>
                  <a:txBody>
                    <a:bodyPr/>
                    <a:lstStyle/>
                    <a:p>
                      <a:pPr>
                        <a:defRPr sz="1500">
                          <a:solidFill>
                            <a:srgbClr val="222222"/>
                          </a:solidFill>
                        </a:defRPr>
                      </a:pPr>
                      <a:r>
                        <a:t>Cell-resolution pilot</a:t>
                      </a:r>
                    </a:p>
                  </a:txBody>
                  <a:tcPr>
                    <a:solidFill>
                      <a:srgbClr val="FFFFFF"/>
                    </a:solidFill>
                  </a:tcPr>
                </a:tc>
                <a:tc>
                  <a:txBody>
                    <a:bodyPr/>
                    <a:lstStyle/>
                    <a:p>
                      <a:pPr>
                        <a:defRPr sz="1500">
                          <a:solidFill>
                            <a:srgbClr val="222222"/>
                          </a:solidFill>
                        </a:defRPr>
                      </a:pPr>
                      <a:r>
                        <a:t>Can a human even see cells in our tiles?</a:t>
                      </a:r>
                    </a:p>
                  </a:txBody>
                  <a:tcPr>
                    <a:solidFill>
                      <a:srgbClr val="FFFFFF"/>
                    </a:solidFill>
                  </a:tcPr>
                </a:tc>
              </a:tr>
            </a:tbl>
          </a:graphicData>
        </a:graphic>
      </p:graphicFrame>
      <p:sp>
        <p:nvSpPr>
          <p:cNvPr id="5" name="TextBox 4"/>
          <p:cNvSpPr txBox="1"/>
          <p:nvPr/>
        </p:nvSpPr>
        <p:spPr>
          <a:xfrm>
            <a:off x="365760" y="6446520"/>
            <a:ext cx="11430000" cy="320040"/>
          </a:xfrm>
          <a:prstGeom prst="rect">
            <a:avLst/>
          </a:prstGeom>
          <a:noFill/>
        </p:spPr>
        <p:txBody>
          <a:bodyPr wrap="none">
            <a:spAutoFit/>
          </a:bodyPr>
          <a:lstStyle/>
          <a:p>
            <a:pPr>
              <a:defRPr sz="900">
                <a:solidFill>
                  <a:srgbClr val="666666"/>
                </a:solidFill>
              </a:defRPr>
            </a:pPr>
            <a:r>
              <a:t>SFB 1709 · B01 · STAMP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822960"/>
          </a:xfrm>
          <a:prstGeom prst="rect">
            <a:avLst/>
          </a:prstGeom>
          <a:noFill/>
        </p:spPr>
        <p:txBody>
          <a:bodyPr wrap="square">
            <a:spAutoFit/>
          </a:bodyPr>
          <a:lstStyle/>
          <a:p>
            <a:pPr>
              <a:defRPr sz="2800" b="1">
                <a:solidFill>
                  <a:srgbClr val="1A4D8C"/>
                </a:solidFill>
              </a:defRPr>
            </a:pPr>
            <a:r>
              <a:t>Results: honest (patient-grouped) evaluation</a:t>
            </a:r>
          </a:p>
        </p:txBody>
      </p:sp>
      <p:sp>
        <p:nvSpPr>
          <p:cNvPr id="3" name="Rectangle 2"/>
          <p:cNvSpPr/>
          <p:nvPr/>
        </p:nvSpPr>
        <p:spPr>
          <a:xfrm>
            <a:off x="0" y="1170432"/>
            <a:ext cx="12191695" cy="38100"/>
          </a:xfrm>
          <a:prstGeom prst="rect">
            <a:avLst/>
          </a:prstGeom>
          <a:solidFill>
            <a:srgbClr val="1A4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43584"/>
            <a:ext cx="11247120" cy="457200"/>
          </a:xfrm>
          <a:prstGeom prst="rect">
            <a:avLst/>
          </a:prstGeom>
          <a:noFill/>
        </p:spPr>
        <p:txBody>
          <a:bodyPr wrap="square">
            <a:spAutoFit/>
          </a:bodyPr>
          <a:lstStyle/>
          <a:p>
            <a:pPr>
              <a:defRPr sz="1400" i="1">
                <a:solidFill>
                  <a:srgbClr val="666666"/>
                </a:solidFill>
              </a:defRPr>
            </a:pPr>
            <a:r>
              <a:t>Fixing the leakage lowers the estimates but the ranking of tasks is preserved.</a:t>
            </a:r>
          </a:p>
        </p:txBody>
      </p:sp>
      <p:pic>
        <p:nvPicPr>
          <p:cNvPr id="5" name="Picture 4" descr="fig_sample_vs_patient.png"/>
          <p:cNvPicPr>
            <a:picLocks noChangeAspect="1"/>
          </p:cNvPicPr>
          <p:nvPr/>
        </p:nvPicPr>
        <p:blipFill>
          <a:blip r:embed="rId2"/>
          <a:stretch>
            <a:fillRect/>
          </a:stretch>
        </p:blipFill>
        <p:spPr>
          <a:xfrm>
            <a:off x="2185014" y="1874519"/>
            <a:ext cx="7791491" cy="4114801"/>
          </a:xfrm>
          <a:prstGeom prst="rect">
            <a:avLst/>
          </a:prstGeom>
        </p:spPr>
      </p:pic>
      <p:sp>
        <p:nvSpPr>
          <p:cNvPr id="6" name="TextBox 5"/>
          <p:cNvSpPr txBox="1"/>
          <p:nvPr/>
        </p:nvSpPr>
        <p:spPr>
          <a:xfrm>
            <a:off x="457200" y="6080760"/>
            <a:ext cx="11247120" cy="457200"/>
          </a:xfrm>
          <a:prstGeom prst="rect">
            <a:avLst/>
          </a:prstGeom>
          <a:noFill/>
        </p:spPr>
        <p:txBody>
          <a:bodyPr wrap="square">
            <a:spAutoFit/>
          </a:bodyPr>
          <a:lstStyle/>
          <a:p>
            <a:pPr>
              <a:defRPr sz="1300" i="1">
                <a:solidFill>
                  <a:srgbClr val="666666"/>
                </a:solidFill>
              </a:defRPr>
            </a:pPr>
            <a:r>
              <a:t>Grey = leaky sample-split; navy = patient-grouped. The patient-grouped bars are the numbers we stand behind.</a:t>
            </a:r>
          </a:p>
        </p:txBody>
      </p:sp>
      <p:sp>
        <p:nvSpPr>
          <p:cNvPr id="7" name="TextBox 6"/>
          <p:cNvSpPr txBox="1"/>
          <p:nvPr/>
        </p:nvSpPr>
        <p:spPr>
          <a:xfrm>
            <a:off x="365760" y="6446520"/>
            <a:ext cx="11430000" cy="320040"/>
          </a:xfrm>
          <a:prstGeom prst="rect">
            <a:avLst/>
          </a:prstGeom>
          <a:noFill/>
        </p:spPr>
        <p:txBody>
          <a:bodyPr wrap="none">
            <a:spAutoFit/>
          </a:bodyPr>
          <a:lstStyle/>
          <a:p>
            <a:pPr>
              <a:defRPr sz="900">
                <a:solidFill>
                  <a:srgbClr val="666666"/>
                </a:solidFill>
              </a:defRPr>
            </a:pPr>
            <a:r>
              <a:t>SFB 1709 · B01 · STAMP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822960"/>
          </a:xfrm>
          <a:prstGeom prst="rect">
            <a:avLst/>
          </a:prstGeom>
          <a:noFill/>
        </p:spPr>
        <p:txBody>
          <a:bodyPr wrap="square">
            <a:spAutoFit/>
          </a:bodyPr>
          <a:lstStyle/>
          <a:p>
            <a:pPr>
              <a:defRPr sz="2800" b="1">
                <a:solidFill>
                  <a:srgbClr val="1A4D8C"/>
                </a:solidFill>
              </a:defRPr>
            </a:pPr>
            <a:r>
              <a:t>Results at a glance (patient-grouped, 5-fold CV)</a:t>
            </a:r>
          </a:p>
        </p:txBody>
      </p:sp>
      <p:sp>
        <p:nvSpPr>
          <p:cNvPr id="3" name="Rectangle 2"/>
          <p:cNvSpPr/>
          <p:nvPr/>
        </p:nvSpPr>
        <p:spPr>
          <a:xfrm>
            <a:off x="0" y="1170432"/>
            <a:ext cx="12191695" cy="38100"/>
          </a:xfrm>
          <a:prstGeom prst="rect">
            <a:avLst/>
          </a:prstGeom>
          <a:solidFill>
            <a:srgbClr val="1A4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57200" y="1600200"/>
          <a:ext cx="12161520" cy="2514600"/>
        </p:xfrm>
        <a:graphic>
          <a:graphicData uri="http://schemas.openxmlformats.org/drawingml/2006/table">
            <a:tbl>
              <a:tblPr firstRow="1" bandRow="1">
                <a:tableStyleId>{5C22544A-7EE6-4342-B048-85BDC9FD1C3A}</a:tableStyleId>
              </a:tblPr>
              <a:tblGrid>
                <a:gridCol w="3291840"/>
                <a:gridCol w="1645920"/>
                <a:gridCol w="1097280"/>
                <a:gridCol w="6126480"/>
              </a:tblGrid>
              <a:tr h="502920">
                <a:tc>
                  <a:txBody>
                    <a:bodyPr/>
                    <a:lstStyle/>
                    <a:p>
                      <a:pPr>
                        <a:defRPr sz="1500" b="1">
                          <a:solidFill>
                            <a:srgbClr val="FFFFFF"/>
                          </a:solidFill>
                        </a:defRPr>
                      </a:pPr>
                      <a:r>
                        <a:t>Task</a:t>
                      </a:r>
                    </a:p>
                  </a:txBody>
                  <a:tcPr>
                    <a:solidFill>
                      <a:srgbClr val="1A4D8C"/>
                    </a:solidFill>
                  </a:tcPr>
                </a:tc>
                <a:tc>
                  <a:txBody>
                    <a:bodyPr/>
                    <a:lstStyle/>
                    <a:p>
                      <a:pPr>
                        <a:defRPr sz="1500" b="1">
                          <a:solidFill>
                            <a:srgbClr val="FFFFFF"/>
                          </a:solidFill>
                        </a:defRPr>
                      </a:pPr>
                      <a:r>
                        <a:t>Type</a:t>
                      </a:r>
                    </a:p>
                  </a:txBody>
                  <a:tcPr>
                    <a:solidFill>
                      <a:srgbClr val="1A4D8C"/>
                    </a:solidFill>
                  </a:tcPr>
                </a:tc>
                <a:tc>
                  <a:txBody>
                    <a:bodyPr/>
                    <a:lstStyle/>
                    <a:p>
                      <a:pPr>
                        <a:defRPr sz="1500" b="1">
                          <a:solidFill>
                            <a:srgbClr val="FFFFFF"/>
                          </a:solidFill>
                        </a:defRPr>
                      </a:pPr>
                      <a:r>
                        <a:t>n</a:t>
                      </a:r>
                    </a:p>
                  </a:txBody>
                  <a:tcPr>
                    <a:solidFill>
                      <a:srgbClr val="1A4D8C"/>
                    </a:solidFill>
                  </a:tcPr>
                </a:tc>
                <a:tc>
                  <a:txBody>
                    <a:bodyPr/>
                    <a:lstStyle/>
                    <a:p>
                      <a:pPr>
                        <a:defRPr sz="1500" b="1">
                          <a:solidFill>
                            <a:srgbClr val="FFFFFF"/>
                          </a:solidFill>
                        </a:defRPr>
                      </a:pPr>
                      <a:r>
                        <a:t>Patient-level result (5-fold CV)</a:t>
                      </a:r>
                    </a:p>
                  </a:txBody>
                  <a:tcPr>
                    <a:solidFill>
                      <a:srgbClr val="1A4D8C"/>
                    </a:solidFill>
                  </a:tcPr>
                </a:tc>
              </a:tr>
              <a:tr h="502920">
                <a:tc>
                  <a:txBody>
                    <a:bodyPr/>
                    <a:lstStyle/>
                    <a:p>
                      <a:pPr>
                        <a:defRPr sz="1500">
                          <a:solidFill>
                            <a:srgbClr val="222222"/>
                          </a:solidFill>
                        </a:defRPr>
                      </a:pPr>
                      <a:r>
                        <a:t>RESPONSE_CR</a:t>
                      </a:r>
                    </a:p>
                  </a:txBody>
                  <a:tcPr>
                    <a:solidFill>
                      <a:srgbClr val="FFFFFF"/>
                    </a:solidFill>
                  </a:tcPr>
                </a:tc>
                <a:tc>
                  <a:txBody>
                    <a:bodyPr/>
                    <a:lstStyle/>
                    <a:p>
                      <a:pPr>
                        <a:defRPr sz="1500">
                          <a:solidFill>
                            <a:srgbClr val="222222"/>
                          </a:solidFill>
                        </a:defRPr>
                      </a:pPr>
                      <a:r>
                        <a:t>binary</a:t>
                      </a:r>
                    </a:p>
                  </a:txBody>
                  <a:tcPr>
                    <a:solidFill>
                      <a:srgbClr val="FFFFFF"/>
                    </a:solidFill>
                  </a:tcPr>
                </a:tc>
                <a:tc>
                  <a:txBody>
                    <a:bodyPr/>
                    <a:lstStyle/>
                    <a:p>
                      <a:pPr>
                        <a:defRPr sz="1500">
                          <a:solidFill>
                            <a:srgbClr val="222222"/>
                          </a:solidFill>
                        </a:defRPr>
                      </a:pPr>
                      <a:r>
                        <a:t>489</a:t>
                      </a:r>
                    </a:p>
                  </a:txBody>
                  <a:tcPr>
                    <a:solidFill>
                      <a:srgbClr val="FFFFFF"/>
                    </a:solidFill>
                  </a:tcPr>
                </a:tc>
                <a:tc>
                  <a:txBody>
                    <a:bodyPr/>
                    <a:lstStyle/>
                    <a:p>
                      <a:pPr>
                        <a:defRPr sz="1500">
                          <a:solidFill>
                            <a:srgbClr val="222222"/>
                          </a:solidFill>
                        </a:defRPr>
                      </a:pPr>
                      <a:r>
                        <a:t>AUROC 0.83 (95% CI 0.79–0.87)</a:t>
                      </a:r>
                    </a:p>
                  </a:txBody>
                  <a:tcPr>
                    <a:solidFill>
                      <a:srgbClr val="FFFFFF"/>
                    </a:solidFill>
                  </a:tcPr>
                </a:tc>
              </a:tr>
              <a:tr h="502920">
                <a:tc>
                  <a:txBody>
                    <a:bodyPr/>
                    <a:lstStyle/>
                    <a:p>
                      <a:pPr>
                        <a:defRPr sz="1500">
                          <a:solidFill>
                            <a:srgbClr val="222222"/>
                          </a:solidFill>
                        </a:defRPr>
                      </a:pPr>
                      <a:r>
                        <a:t>HIGH_BLAST</a:t>
                      </a:r>
                    </a:p>
                  </a:txBody>
                  <a:tcPr>
                    <a:solidFill>
                      <a:srgbClr val="EEEFF7"/>
                    </a:solidFill>
                  </a:tcPr>
                </a:tc>
                <a:tc>
                  <a:txBody>
                    <a:bodyPr/>
                    <a:lstStyle/>
                    <a:p>
                      <a:pPr>
                        <a:defRPr sz="1500">
                          <a:solidFill>
                            <a:srgbClr val="222222"/>
                          </a:solidFill>
                        </a:defRPr>
                      </a:pPr>
                      <a:r>
                        <a:t>binary</a:t>
                      </a:r>
                    </a:p>
                  </a:txBody>
                  <a:tcPr>
                    <a:solidFill>
                      <a:srgbClr val="EEEFF7"/>
                    </a:solidFill>
                  </a:tcPr>
                </a:tc>
                <a:tc>
                  <a:txBody>
                    <a:bodyPr/>
                    <a:lstStyle/>
                    <a:p>
                      <a:pPr>
                        <a:defRPr sz="1500">
                          <a:solidFill>
                            <a:srgbClr val="222222"/>
                          </a:solidFill>
                        </a:defRPr>
                      </a:pPr>
                      <a:r>
                        <a:t>489</a:t>
                      </a:r>
                    </a:p>
                  </a:txBody>
                  <a:tcPr>
                    <a:solidFill>
                      <a:srgbClr val="EEEFF7"/>
                    </a:solidFill>
                  </a:tcPr>
                </a:tc>
                <a:tc>
                  <a:txBody>
                    <a:bodyPr/>
                    <a:lstStyle/>
                    <a:p>
                      <a:pPr>
                        <a:defRPr sz="1500">
                          <a:solidFill>
                            <a:srgbClr val="222222"/>
                          </a:solidFill>
                        </a:defRPr>
                      </a:pPr>
                      <a:r>
                        <a:t>AUROC 0.90 (95% CI 0.86–0.93)</a:t>
                      </a:r>
                    </a:p>
                  </a:txBody>
                  <a:tcPr>
                    <a:solidFill>
                      <a:srgbClr val="EEEFF7"/>
                    </a:solidFill>
                  </a:tcPr>
                </a:tc>
              </a:tr>
              <a:tr h="502920">
                <a:tc>
                  <a:txBody>
                    <a:bodyPr/>
                    <a:lstStyle/>
                    <a:p>
                      <a:pPr>
                        <a:defRPr sz="1500">
                          <a:solidFill>
                            <a:srgbClr val="222222"/>
                          </a:solidFill>
                        </a:defRPr>
                      </a:pPr>
                      <a:r>
                        <a:t>BLAST_SEVERITY</a:t>
                      </a:r>
                    </a:p>
                  </a:txBody>
                  <a:tcPr>
                    <a:solidFill>
                      <a:srgbClr val="FFFFFF"/>
                    </a:solidFill>
                  </a:tcPr>
                </a:tc>
                <a:tc>
                  <a:txBody>
                    <a:bodyPr/>
                    <a:lstStyle/>
                    <a:p>
                      <a:pPr>
                        <a:defRPr sz="1500">
                          <a:solidFill>
                            <a:srgbClr val="222222"/>
                          </a:solidFill>
                        </a:defRPr>
                      </a:pPr>
                      <a:r>
                        <a:t>3-class</a:t>
                      </a:r>
                    </a:p>
                  </a:txBody>
                  <a:tcPr>
                    <a:solidFill>
                      <a:srgbClr val="FFFFFF"/>
                    </a:solidFill>
                  </a:tcPr>
                </a:tc>
                <a:tc>
                  <a:txBody>
                    <a:bodyPr/>
                    <a:lstStyle/>
                    <a:p>
                      <a:pPr>
                        <a:defRPr sz="1500">
                          <a:solidFill>
                            <a:srgbClr val="222222"/>
                          </a:solidFill>
                        </a:defRPr>
                      </a:pPr>
                      <a:r>
                        <a:t>489</a:t>
                      </a:r>
                    </a:p>
                  </a:txBody>
                  <a:tcPr>
                    <a:solidFill>
                      <a:srgbClr val="FFFFFF"/>
                    </a:solidFill>
                  </a:tcPr>
                </a:tc>
                <a:tc>
                  <a:txBody>
                    <a:bodyPr/>
                    <a:lstStyle/>
                    <a:p>
                      <a:pPr>
                        <a:defRPr sz="1500">
                          <a:solidFill>
                            <a:srgbClr val="222222"/>
                          </a:solidFill>
                        </a:defRPr>
                      </a:pPr>
                      <a:r>
                        <a:t>macro-AUROC 0.79</a:t>
                      </a:r>
                    </a:p>
                  </a:txBody>
                  <a:tcPr>
                    <a:solidFill>
                      <a:srgbClr val="FFFFFF"/>
                    </a:solidFill>
                  </a:tcPr>
                </a:tc>
              </a:tr>
              <a:tr h="502920">
                <a:tc>
                  <a:txBody>
                    <a:bodyPr/>
                    <a:lstStyle/>
                    <a:p>
                      <a:pPr>
                        <a:defRPr sz="1500">
                          <a:solidFill>
                            <a:srgbClr val="222222"/>
                          </a:solidFill>
                        </a:defRPr>
                      </a:pPr>
                      <a:r>
                        <a:t>BLAST_PERCENT</a:t>
                      </a:r>
                    </a:p>
                  </a:txBody>
                  <a:tcPr>
                    <a:solidFill>
                      <a:srgbClr val="EEEFF7"/>
                    </a:solidFill>
                  </a:tcPr>
                </a:tc>
                <a:tc>
                  <a:txBody>
                    <a:bodyPr/>
                    <a:lstStyle/>
                    <a:p>
                      <a:pPr>
                        <a:defRPr sz="1500">
                          <a:solidFill>
                            <a:srgbClr val="222222"/>
                          </a:solidFill>
                        </a:defRPr>
                      </a:pPr>
                      <a:r>
                        <a:t>regression</a:t>
                      </a:r>
                    </a:p>
                  </a:txBody>
                  <a:tcPr>
                    <a:solidFill>
                      <a:srgbClr val="EEEFF7"/>
                    </a:solidFill>
                  </a:tcPr>
                </a:tc>
                <a:tc>
                  <a:txBody>
                    <a:bodyPr/>
                    <a:lstStyle/>
                    <a:p>
                      <a:pPr>
                        <a:defRPr sz="1500">
                          <a:solidFill>
                            <a:srgbClr val="222222"/>
                          </a:solidFill>
                        </a:defRPr>
                      </a:pPr>
                      <a:r>
                        <a:t>489</a:t>
                      </a:r>
                    </a:p>
                  </a:txBody>
                  <a:tcPr>
                    <a:solidFill>
                      <a:srgbClr val="EEEFF7"/>
                    </a:solidFill>
                  </a:tcPr>
                </a:tc>
                <a:tc>
                  <a:txBody>
                    <a:bodyPr/>
                    <a:lstStyle/>
                    <a:p>
                      <a:pPr>
                        <a:defRPr sz="1500">
                          <a:solidFill>
                            <a:srgbClr val="222222"/>
                          </a:solidFill>
                        </a:defRPr>
                      </a:pPr>
                      <a:r>
                        <a:t>Pearson r 0.65 · R² 0.04 · MAE 11%</a:t>
                      </a:r>
                    </a:p>
                  </a:txBody>
                  <a:tcPr>
                    <a:solidFill>
                      <a:srgbClr val="EEEFF7"/>
                    </a:solidFill>
                  </a:tcPr>
                </a:tc>
              </a:tr>
            </a:tbl>
          </a:graphicData>
        </a:graphic>
      </p:graphicFrame>
      <p:sp>
        <p:nvSpPr>
          <p:cNvPr id="5" name="TextBox 4"/>
          <p:cNvSpPr txBox="1"/>
          <p:nvPr/>
        </p:nvSpPr>
        <p:spPr>
          <a:xfrm>
            <a:off x="457200" y="4206240"/>
            <a:ext cx="11247120" cy="1097280"/>
          </a:xfrm>
          <a:prstGeom prst="rect">
            <a:avLst/>
          </a:prstGeom>
          <a:noFill/>
        </p:spPr>
        <p:txBody>
          <a:bodyPr wrap="square">
            <a:spAutoFit/>
          </a:bodyPr>
          <a:lstStyle/>
          <a:p>
            <a:pPr>
              <a:defRPr sz="1500" i="1">
                <a:solidFill>
                  <a:srgbClr val="666666"/>
                </a:solidFill>
              </a:defRPr>
            </a:pPr>
            <a:r>
              <a:t>Classification: AUROC with 95% CI. Regression: correlates but is not calibrated.</a:t>
            </a:r>
          </a:p>
        </p:txBody>
      </p:sp>
      <p:sp>
        <p:nvSpPr>
          <p:cNvPr id="6" name="TextBox 5"/>
          <p:cNvSpPr txBox="1"/>
          <p:nvPr/>
        </p:nvSpPr>
        <p:spPr>
          <a:xfrm>
            <a:off x="365760" y="6446520"/>
            <a:ext cx="11430000" cy="320040"/>
          </a:xfrm>
          <a:prstGeom prst="rect">
            <a:avLst/>
          </a:prstGeom>
          <a:noFill/>
        </p:spPr>
        <p:txBody>
          <a:bodyPr wrap="none">
            <a:spAutoFit/>
          </a:bodyPr>
          <a:lstStyle/>
          <a:p>
            <a:pPr>
              <a:defRPr sz="900">
                <a:solidFill>
                  <a:srgbClr val="666666"/>
                </a:solidFill>
              </a:defRPr>
            </a:pPr>
            <a:r>
              <a:t>SFB 1709 · B01 · STAMP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822960"/>
          </a:xfrm>
          <a:prstGeom prst="rect">
            <a:avLst/>
          </a:prstGeom>
          <a:noFill/>
        </p:spPr>
        <p:txBody>
          <a:bodyPr wrap="square">
            <a:spAutoFit/>
          </a:bodyPr>
          <a:lstStyle/>
          <a:p>
            <a:pPr>
              <a:defRPr sz="2800" b="1">
                <a:solidFill>
                  <a:srgbClr val="1A4D8C"/>
                </a:solidFill>
              </a:defRPr>
            </a:pPr>
            <a:r>
              <a:t>Experiment 1 — Complete-remission label (RESPONSE_CR)</a:t>
            </a:r>
          </a:p>
        </p:txBody>
      </p:sp>
      <p:sp>
        <p:nvSpPr>
          <p:cNvPr id="3" name="Rectangle 2"/>
          <p:cNvSpPr/>
          <p:nvPr/>
        </p:nvSpPr>
        <p:spPr>
          <a:xfrm>
            <a:off x="0" y="1170432"/>
            <a:ext cx="12191695" cy="38100"/>
          </a:xfrm>
          <a:prstGeom prst="rect">
            <a:avLst/>
          </a:prstGeom>
          <a:solidFill>
            <a:srgbClr val="1A4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43584"/>
            <a:ext cx="11247120" cy="457200"/>
          </a:xfrm>
          <a:prstGeom prst="rect">
            <a:avLst/>
          </a:prstGeom>
          <a:noFill/>
        </p:spPr>
        <p:txBody>
          <a:bodyPr wrap="square">
            <a:spAutoFit/>
          </a:bodyPr>
          <a:lstStyle/>
          <a:p>
            <a:pPr>
              <a:defRPr sz="1400" i="1">
                <a:solidFill>
                  <a:srgbClr val="666666"/>
                </a:solidFill>
              </a:defRPr>
            </a:pPr>
            <a:r>
              <a:t>Patient-grouped AUROC 0.83 (95% CI 0.79–0.87)  —  but note the caveat on the labels (slide 17).</a:t>
            </a:r>
          </a:p>
        </p:txBody>
      </p:sp>
      <p:pic>
        <p:nvPicPr>
          <p:cNvPr id="5" name="Picture 4" descr="exp_response.png"/>
          <p:cNvPicPr>
            <a:picLocks noChangeAspect="1"/>
          </p:cNvPicPr>
          <p:nvPr/>
        </p:nvPicPr>
        <p:blipFill>
          <a:blip r:embed="rId2"/>
          <a:stretch>
            <a:fillRect/>
          </a:stretch>
        </p:blipFill>
        <p:spPr>
          <a:xfrm>
            <a:off x="2917444" y="1874519"/>
            <a:ext cx="6326631" cy="4114801"/>
          </a:xfrm>
          <a:prstGeom prst="rect">
            <a:avLst/>
          </a:prstGeom>
        </p:spPr>
      </p:pic>
      <p:sp>
        <p:nvSpPr>
          <p:cNvPr id="6" name="TextBox 5"/>
          <p:cNvSpPr txBox="1"/>
          <p:nvPr/>
        </p:nvSpPr>
        <p:spPr>
          <a:xfrm>
            <a:off x="457200" y="6080760"/>
            <a:ext cx="11247120" cy="457200"/>
          </a:xfrm>
          <a:prstGeom prst="rect">
            <a:avLst/>
          </a:prstGeom>
          <a:noFill/>
        </p:spPr>
        <p:txBody>
          <a:bodyPr wrap="square">
            <a:spAutoFit/>
          </a:bodyPr>
          <a:lstStyle/>
          <a:p>
            <a:pPr>
              <a:defRPr sz="1300" i="1">
                <a:solidFill>
                  <a:srgbClr val="666666"/>
                </a:solidFill>
              </a:defRPr>
            </a:pPr>
            <a:r>
              <a:t>Two held-out cases (left non-responder, right responder). Top: whole-slide image; bottom: attention on cellular smear regions. (Illustrative maps from the initial models.)</a:t>
            </a:r>
          </a:p>
        </p:txBody>
      </p:sp>
      <p:sp>
        <p:nvSpPr>
          <p:cNvPr id="7" name="TextBox 6"/>
          <p:cNvSpPr txBox="1"/>
          <p:nvPr/>
        </p:nvSpPr>
        <p:spPr>
          <a:xfrm>
            <a:off x="365760" y="6446520"/>
            <a:ext cx="11430000" cy="320040"/>
          </a:xfrm>
          <a:prstGeom prst="rect">
            <a:avLst/>
          </a:prstGeom>
          <a:noFill/>
        </p:spPr>
        <p:txBody>
          <a:bodyPr wrap="none">
            <a:spAutoFit/>
          </a:bodyPr>
          <a:lstStyle/>
          <a:p>
            <a:pPr>
              <a:defRPr sz="900">
                <a:solidFill>
                  <a:srgbClr val="666666"/>
                </a:solidFill>
              </a:defRPr>
            </a:pPr>
            <a:r>
              <a:t>SFB 1709 · B01 · STAMP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822960"/>
          </a:xfrm>
          <a:prstGeom prst="rect">
            <a:avLst/>
          </a:prstGeom>
          <a:noFill/>
        </p:spPr>
        <p:txBody>
          <a:bodyPr wrap="square">
            <a:spAutoFit/>
          </a:bodyPr>
          <a:lstStyle/>
          <a:p>
            <a:pPr>
              <a:defRPr sz="2800" b="1">
                <a:solidFill>
                  <a:srgbClr val="1A4D8C"/>
                </a:solidFill>
              </a:defRPr>
            </a:pPr>
            <a:r>
              <a:t>Experiment 2 — High blast burden (HIGH_BLAST)</a:t>
            </a:r>
          </a:p>
        </p:txBody>
      </p:sp>
      <p:sp>
        <p:nvSpPr>
          <p:cNvPr id="3" name="Rectangle 2"/>
          <p:cNvSpPr/>
          <p:nvPr/>
        </p:nvSpPr>
        <p:spPr>
          <a:xfrm>
            <a:off x="0" y="1170432"/>
            <a:ext cx="12191695" cy="38100"/>
          </a:xfrm>
          <a:prstGeom prst="rect">
            <a:avLst/>
          </a:prstGeom>
          <a:solidFill>
            <a:srgbClr val="1A4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43584"/>
            <a:ext cx="11247120" cy="457200"/>
          </a:xfrm>
          <a:prstGeom prst="rect">
            <a:avLst/>
          </a:prstGeom>
          <a:noFill/>
        </p:spPr>
        <p:txBody>
          <a:bodyPr wrap="square">
            <a:spAutoFit/>
          </a:bodyPr>
          <a:lstStyle/>
          <a:p>
            <a:pPr>
              <a:defRPr sz="1400" i="1">
                <a:solidFill>
                  <a:srgbClr val="666666"/>
                </a:solidFill>
              </a:defRPr>
            </a:pPr>
            <a:r>
              <a:t>Patient-grouped AUROC 0.90 (95% CI 0.86–0.93) — the strongest classifier.</a:t>
            </a:r>
          </a:p>
        </p:txBody>
      </p:sp>
      <p:pic>
        <p:nvPicPr>
          <p:cNvPr id="5" name="Picture 4" descr="exp_high_blast.png"/>
          <p:cNvPicPr>
            <a:picLocks noChangeAspect="1"/>
          </p:cNvPicPr>
          <p:nvPr/>
        </p:nvPicPr>
        <p:blipFill>
          <a:blip r:embed="rId2"/>
          <a:stretch>
            <a:fillRect/>
          </a:stretch>
        </p:blipFill>
        <p:spPr>
          <a:xfrm>
            <a:off x="1174257" y="1874519"/>
            <a:ext cx="9813006" cy="4114801"/>
          </a:xfrm>
          <a:prstGeom prst="rect">
            <a:avLst/>
          </a:prstGeom>
        </p:spPr>
      </p:pic>
      <p:sp>
        <p:nvSpPr>
          <p:cNvPr id="6" name="TextBox 5"/>
          <p:cNvSpPr txBox="1"/>
          <p:nvPr/>
        </p:nvSpPr>
        <p:spPr>
          <a:xfrm>
            <a:off x="457200" y="6080760"/>
            <a:ext cx="11247120" cy="457200"/>
          </a:xfrm>
          <a:prstGeom prst="rect">
            <a:avLst/>
          </a:prstGeom>
          <a:noFill/>
        </p:spPr>
        <p:txBody>
          <a:bodyPr wrap="square">
            <a:spAutoFit/>
          </a:bodyPr>
          <a:lstStyle/>
          <a:p>
            <a:pPr>
              <a:defRPr sz="1300" i="1">
                <a:solidFill>
                  <a:srgbClr val="666666"/>
                </a:solidFill>
              </a:defRPr>
            </a:pPr>
            <a:r>
              <a:t>Three held-out high-blast cases; attention overlaps the dense blast clusters in the WSIs above.</a:t>
            </a:r>
          </a:p>
        </p:txBody>
      </p:sp>
      <p:sp>
        <p:nvSpPr>
          <p:cNvPr id="7" name="TextBox 6"/>
          <p:cNvSpPr txBox="1"/>
          <p:nvPr/>
        </p:nvSpPr>
        <p:spPr>
          <a:xfrm>
            <a:off x="365760" y="6446520"/>
            <a:ext cx="11430000" cy="320040"/>
          </a:xfrm>
          <a:prstGeom prst="rect">
            <a:avLst/>
          </a:prstGeom>
          <a:noFill/>
        </p:spPr>
        <p:txBody>
          <a:bodyPr wrap="none">
            <a:spAutoFit/>
          </a:bodyPr>
          <a:lstStyle/>
          <a:p>
            <a:pPr>
              <a:defRPr sz="900">
                <a:solidFill>
                  <a:srgbClr val="666666"/>
                </a:solidFill>
              </a:defRPr>
            </a:pPr>
            <a:r>
              <a:t>SFB 1709 · B01 · STAMP</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822960"/>
          </a:xfrm>
          <a:prstGeom prst="rect">
            <a:avLst/>
          </a:prstGeom>
          <a:noFill/>
        </p:spPr>
        <p:txBody>
          <a:bodyPr wrap="square">
            <a:spAutoFit/>
          </a:bodyPr>
          <a:lstStyle/>
          <a:p>
            <a:pPr>
              <a:defRPr sz="2800" b="1">
                <a:solidFill>
                  <a:srgbClr val="1A4D8C"/>
                </a:solidFill>
              </a:defRPr>
            </a:pPr>
            <a:r>
              <a:t>Experiment 3 — Blast-severity grading (3-class)</a:t>
            </a:r>
          </a:p>
        </p:txBody>
      </p:sp>
      <p:sp>
        <p:nvSpPr>
          <p:cNvPr id="3" name="Rectangle 2"/>
          <p:cNvSpPr/>
          <p:nvPr/>
        </p:nvSpPr>
        <p:spPr>
          <a:xfrm>
            <a:off x="0" y="1170432"/>
            <a:ext cx="12191695" cy="38100"/>
          </a:xfrm>
          <a:prstGeom prst="rect">
            <a:avLst/>
          </a:prstGeom>
          <a:solidFill>
            <a:srgbClr val="1A4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43584"/>
            <a:ext cx="11247120" cy="457200"/>
          </a:xfrm>
          <a:prstGeom prst="rect">
            <a:avLst/>
          </a:prstGeom>
          <a:noFill/>
        </p:spPr>
        <p:txBody>
          <a:bodyPr wrap="square">
            <a:spAutoFit/>
          </a:bodyPr>
          <a:lstStyle/>
          <a:p>
            <a:pPr>
              <a:defRPr sz="1400" i="1">
                <a:solidFill>
                  <a:srgbClr val="666666"/>
                </a:solidFill>
              </a:defRPr>
            </a:pPr>
            <a:r>
              <a:t>Reliable at the extremes; the intermediate class is the main source of error.</a:t>
            </a:r>
          </a:p>
        </p:txBody>
      </p:sp>
      <p:sp>
        <p:nvSpPr>
          <p:cNvPr id="5" name="TextBox 4"/>
          <p:cNvSpPr txBox="1"/>
          <p:nvPr/>
        </p:nvSpPr>
        <p:spPr>
          <a:xfrm>
            <a:off x="548640" y="1874519"/>
            <a:ext cx="11155680" cy="4114800"/>
          </a:xfrm>
          <a:prstGeom prst="rect">
            <a:avLst/>
          </a:prstGeom>
          <a:noFill/>
        </p:spPr>
        <p:txBody>
          <a:bodyPr wrap="square">
            <a:spAutoFit/>
          </a:bodyPr>
          <a:lstStyle/>
          <a:p>
            <a:pPr>
              <a:spcAft>
                <a:spcPts val="700"/>
              </a:spcAft>
              <a:defRPr sz="2000">
                <a:solidFill>
                  <a:srgbClr val="222222"/>
                </a:solidFill>
              </a:defRPr>
            </a:pPr>
            <a:r>
              <a:t>• Three-class grade: low / intermediate / high.</a:t>
            </a:r>
          </a:p>
          <a:p>
            <a:pPr>
              <a:spcAft>
                <a:spcPts val="700"/>
              </a:spcAft>
              <a:defRPr sz="2000">
                <a:solidFill>
                  <a:srgbClr val="222222"/>
                </a:solidFill>
              </a:defRPr>
            </a:pPr>
            <a:r>
              <a:t>• Patient-grouped one-vs-rest AUROC: high 0.83 · low 0.82 · intermediate 0.71.</a:t>
            </a:r>
          </a:p>
          <a:p>
            <a:pPr lvl="1">
              <a:spcAft>
                <a:spcPts val="700"/>
              </a:spcAft>
              <a:defRPr sz="1800">
                <a:solidFill>
                  <a:srgbClr val="666666"/>
                </a:solidFill>
              </a:defRPr>
            </a:pPr>
            <a:r>
              <a:t>– Extremes separate reliably; the intermediate band is hardest.</a:t>
            </a:r>
          </a:p>
          <a:p>
            <a:pPr>
              <a:spcAft>
                <a:spcPts val="700"/>
              </a:spcAft>
              <a:defRPr sz="2000">
                <a:solidFill>
                  <a:srgbClr val="222222"/>
                </a:solidFill>
              </a:defRPr>
            </a:pPr>
            <a:r>
              <a:t>• Indicates where additional expert annotation would help most.</a:t>
            </a:r>
          </a:p>
        </p:txBody>
      </p:sp>
      <p:sp>
        <p:nvSpPr>
          <p:cNvPr id="6" name="TextBox 5"/>
          <p:cNvSpPr txBox="1"/>
          <p:nvPr/>
        </p:nvSpPr>
        <p:spPr>
          <a:xfrm>
            <a:off x="365760" y="6446520"/>
            <a:ext cx="11430000" cy="320040"/>
          </a:xfrm>
          <a:prstGeom prst="rect">
            <a:avLst/>
          </a:prstGeom>
          <a:noFill/>
        </p:spPr>
        <p:txBody>
          <a:bodyPr wrap="none">
            <a:spAutoFit/>
          </a:bodyPr>
          <a:lstStyle/>
          <a:p>
            <a:pPr>
              <a:defRPr sz="900">
                <a:solidFill>
                  <a:srgbClr val="666666"/>
                </a:solidFill>
              </a:defRPr>
            </a:pPr>
            <a:r>
              <a:t>SFB 1709 · B01 · STAMP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822960"/>
          </a:xfrm>
          <a:prstGeom prst="rect">
            <a:avLst/>
          </a:prstGeom>
          <a:noFill/>
        </p:spPr>
        <p:txBody>
          <a:bodyPr wrap="square">
            <a:spAutoFit/>
          </a:bodyPr>
          <a:lstStyle/>
          <a:p>
            <a:pPr>
              <a:defRPr sz="2800" b="1">
                <a:solidFill>
                  <a:srgbClr val="1A4D8C"/>
                </a:solidFill>
              </a:defRPr>
            </a:pPr>
            <a:r>
              <a:t>Experiment 4 — Blast-percentage regression</a:t>
            </a:r>
          </a:p>
        </p:txBody>
      </p:sp>
      <p:sp>
        <p:nvSpPr>
          <p:cNvPr id="3" name="Rectangle 2"/>
          <p:cNvSpPr/>
          <p:nvPr/>
        </p:nvSpPr>
        <p:spPr>
          <a:xfrm>
            <a:off x="0" y="1170432"/>
            <a:ext cx="12191695" cy="38100"/>
          </a:xfrm>
          <a:prstGeom prst="rect">
            <a:avLst/>
          </a:prstGeom>
          <a:solidFill>
            <a:srgbClr val="1A4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43584"/>
            <a:ext cx="11247120" cy="457200"/>
          </a:xfrm>
          <a:prstGeom prst="rect">
            <a:avLst/>
          </a:prstGeom>
          <a:noFill/>
        </p:spPr>
        <p:txBody>
          <a:bodyPr wrap="square">
            <a:spAutoFit/>
          </a:bodyPr>
          <a:lstStyle/>
          <a:p>
            <a:pPr>
              <a:defRPr sz="1400" i="1">
                <a:solidFill>
                  <a:srgbClr val="666666"/>
                </a:solidFill>
              </a:defRPr>
            </a:pPr>
            <a:r>
              <a:t>Pearson r 0.65, R² 0.04, MAE 11% — good ranking, poor calibration.</a:t>
            </a:r>
          </a:p>
        </p:txBody>
      </p:sp>
      <p:pic>
        <p:nvPicPr>
          <p:cNvPr id="5" name="Picture 4" descr="exp_blast_percent.png"/>
          <p:cNvPicPr>
            <a:picLocks noChangeAspect="1"/>
          </p:cNvPicPr>
          <p:nvPr/>
        </p:nvPicPr>
        <p:blipFill>
          <a:blip r:embed="rId2"/>
          <a:stretch>
            <a:fillRect/>
          </a:stretch>
        </p:blipFill>
        <p:spPr>
          <a:xfrm>
            <a:off x="1322400" y="1874519"/>
            <a:ext cx="9516719" cy="4114801"/>
          </a:xfrm>
          <a:prstGeom prst="rect">
            <a:avLst/>
          </a:prstGeom>
        </p:spPr>
      </p:pic>
      <p:sp>
        <p:nvSpPr>
          <p:cNvPr id="6" name="TextBox 5"/>
          <p:cNvSpPr txBox="1"/>
          <p:nvPr/>
        </p:nvSpPr>
        <p:spPr>
          <a:xfrm>
            <a:off x="457200" y="6080760"/>
            <a:ext cx="11247120" cy="457200"/>
          </a:xfrm>
          <a:prstGeom prst="rect">
            <a:avLst/>
          </a:prstGeom>
          <a:noFill/>
        </p:spPr>
        <p:txBody>
          <a:bodyPr wrap="square">
            <a:spAutoFit/>
          </a:bodyPr>
          <a:lstStyle/>
          <a:p>
            <a:pPr>
              <a:defRPr sz="1300" i="1">
                <a:solidFill>
                  <a:srgbClr val="666666"/>
                </a:solidFill>
              </a:defRPr>
            </a:pPr>
            <a:r>
              <a:t>Prediction heatmaps: the model attends to blast-rich regions but under-predicts the count on high-blast slides (e.g. 90% → 12%).</a:t>
            </a:r>
          </a:p>
        </p:txBody>
      </p:sp>
      <p:sp>
        <p:nvSpPr>
          <p:cNvPr id="7" name="TextBox 6"/>
          <p:cNvSpPr txBox="1"/>
          <p:nvPr/>
        </p:nvSpPr>
        <p:spPr>
          <a:xfrm>
            <a:off x="365760" y="6446520"/>
            <a:ext cx="11430000" cy="320040"/>
          </a:xfrm>
          <a:prstGeom prst="rect">
            <a:avLst/>
          </a:prstGeom>
          <a:noFill/>
        </p:spPr>
        <p:txBody>
          <a:bodyPr wrap="none">
            <a:spAutoFit/>
          </a:bodyPr>
          <a:lstStyle/>
          <a:p>
            <a:pPr>
              <a:defRPr sz="900">
                <a:solidFill>
                  <a:srgbClr val="666666"/>
                </a:solidFill>
              </a:defRPr>
            </a:pPr>
            <a:r>
              <a:t>SFB 1709 · B01 · STAMP</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822960"/>
          </a:xfrm>
          <a:prstGeom prst="rect">
            <a:avLst/>
          </a:prstGeom>
          <a:noFill/>
        </p:spPr>
        <p:txBody>
          <a:bodyPr wrap="square">
            <a:spAutoFit/>
          </a:bodyPr>
          <a:lstStyle/>
          <a:p>
            <a:pPr>
              <a:defRPr sz="2800" b="1">
                <a:solidFill>
                  <a:srgbClr val="1A4D8C"/>
                </a:solidFill>
              </a:defRPr>
            </a:pPr>
            <a:r>
              <a:t>Experiment 5 — Does attention localise real blasts?</a:t>
            </a:r>
          </a:p>
        </p:txBody>
      </p:sp>
      <p:sp>
        <p:nvSpPr>
          <p:cNvPr id="3" name="Rectangle 2"/>
          <p:cNvSpPr/>
          <p:nvPr/>
        </p:nvSpPr>
        <p:spPr>
          <a:xfrm>
            <a:off x="0" y="1170432"/>
            <a:ext cx="12191695" cy="38100"/>
          </a:xfrm>
          <a:prstGeom prst="rect">
            <a:avLst/>
          </a:prstGeom>
          <a:solidFill>
            <a:srgbClr val="1A4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43584"/>
            <a:ext cx="11247120" cy="457200"/>
          </a:xfrm>
          <a:prstGeom prst="rect">
            <a:avLst/>
          </a:prstGeom>
          <a:noFill/>
        </p:spPr>
        <p:txBody>
          <a:bodyPr wrap="square">
            <a:spAutoFit/>
          </a:bodyPr>
          <a:lstStyle/>
          <a:p>
            <a:pPr>
              <a:defRPr sz="1400" i="1">
                <a:solidFill>
                  <a:srgbClr val="666666"/>
                </a:solidFill>
              </a:defRPr>
            </a:pPr>
            <a:r>
              <a:t>HIGH_BLAST maps track clinical blasts (proxy AUROC 0.86); regression maps do not (0.42).</a:t>
            </a:r>
          </a:p>
        </p:txBody>
      </p:sp>
      <p:pic>
        <p:nvPicPr>
          <p:cNvPr id="5" name="Picture 4" descr="fig_explain_enrichment.png"/>
          <p:cNvPicPr>
            <a:picLocks noChangeAspect="1"/>
          </p:cNvPicPr>
          <p:nvPr/>
        </p:nvPicPr>
        <p:blipFill>
          <a:blip r:embed="rId2"/>
          <a:stretch>
            <a:fillRect/>
          </a:stretch>
        </p:blipFill>
        <p:spPr>
          <a:xfrm>
            <a:off x="2249010" y="1874519"/>
            <a:ext cx="7663500" cy="4114801"/>
          </a:xfrm>
          <a:prstGeom prst="rect">
            <a:avLst/>
          </a:prstGeom>
        </p:spPr>
      </p:pic>
      <p:sp>
        <p:nvSpPr>
          <p:cNvPr id="6" name="TextBox 5"/>
          <p:cNvSpPr txBox="1"/>
          <p:nvPr/>
        </p:nvSpPr>
        <p:spPr>
          <a:xfrm>
            <a:off x="457200" y="6080760"/>
            <a:ext cx="11247120" cy="457200"/>
          </a:xfrm>
          <a:prstGeom prst="rect">
            <a:avLst/>
          </a:prstGeom>
          <a:noFill/>
        </p:spPr>
        <p:txBody>
          <a:bodyPr wrap="square">
            <a:spAutoFit/>
          </a:bodyPr>
          <a:lstStyle/>
          <a:p>
            <a:pPr>
              <a:defRPr sz="1300" i="1">
                <a:solidFill>
                  <a:srgbClr val="666666"/>
                </a:solidFill>
              </a:defRPr>
            </a:pPr>
            <a:r>
              <a:t>Overlap of top-attended regions with cell-rich tissue by clinical blast band, over ~490 samples. HIGH_BLAST attention rises with blast burden; BLAST_PERCENT attention does not.</a:t>
            </a:r>
          </a:p>
        </p:txBody>
      </p:sp>
      <p:sp>
        <p:nvSpPr>
          <p:cNvPr id="7" name="TextBox 6"/>
          <p:cNvSpPr txBox="1"/>
          <p:nvPr/>
        </p:nvSpPr>
        <p:spPr>
          <a:xfrm>
            <a:off x="365760" y="6446520"/>
            <a:ext cx="11430000" cy="320040"/>
          </a:xfrm>
          <a:prstGeom prst="rect">
            <a:avLst/>
          </a:prstGeom>
          <a:noFill/>
        </p:spPr>
        <p:txBody>
          <a:bodyPr wrap="none">
            <a:spAutoFit/>
          </a:bodyPr>
          <a:lstStyle/>
          <a:p>
            <a:pPr>
              <a:defRPr sz="900">
                <a:solidFill>
                  <a:srgbClr val="666666"/>
                </a:solidFill>
              </a:defRPr>
            </a:pPr>
            <a:r>
              <a:t>SFB 1709 · B01 · STAMP</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822960"/>
          </a:xfrm>
          <a:prstGeom prst="rect">
            <a:avLst/>
          </a:prstGeom>
          <a:noFill/>
        </p:spPr>
        <p:txBody>
          <a:bodyPr wrap="square">
            <a:spAutoFit/>
          </a:bodyPr>
          <a:lstStyle/>
          <a:p>
            <a:pPr>
              <a:defRPr sz="2800" b="1">
                <a:solidFill>
                  <a:srgbClr val="1A4D8C"/>
                </a:solidFill>
              </a:defRPr>
            </a:pPr>
            <a:r>
              <a:t>Precision-recall and calibration</a:t>
            </a:r>
          </a:p>
        </p:txBody>
      </p:sp>
      <p:sp>
        <p:nvSpPr>
          <p:cNvPr id="3" name="Rectangle 2"/>
          <p:cNvSpPr/>
          <p:nvPr/>
        </p:nvSpPr>
        <p:spPr>
          <a:xfrm>
            <a:off x="0" y="1170432"/>
            <a:ext cx="12191695" cy="38100"/>
          </a:xfrm>
          <a:prstGeom prst="rect">
            <a:avLst/>
          </a:prstGeom>
          <a:solidFill>
            <a:srgbClr val="1A4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43584"/>
            <a:ext cx="11247120" cy="457200"/>
          </a:xfrm>
          <a:prstGeom prst="rect">
            <a:avLst/>
          </a:prstGeom>
          <a:noFill/>
        </p:spPr>
        <p:txBody>
          <a:bodyPr wrap="square">
            <a:spAutoFit/>
          </a:bodyPr>
          <a:lstStyle/>
          <a:p>
            <a:pPr>
              <a:defRPr sz="1400" i="1">
                <a:solidFill>
                  <a:srgbClr val="666666"/>
                </a:solidFill>
              </a:defRPr>
            </a:pPr>
            <a:r>
              <a:t>Beyond AUROC: performance under imbalance, and probability calibration.</a:t>
            </a:r>
          </a:p>
        </p:txBody>
      </p:sp>
      <p:pic>
        <p:nvPicPr>
          <p:cNvPr id="5" name="Picture 4" descr="fig_auprc_calibration.png"/>
          <p:cNvPicPr>
            <a:picLocks noChangeAspect="1"/>
          </p:cNvPicPr>
          <p:nvPr/>
        </p:nvPicPr>
        <p:blipFill>
          <a:blip r:embed="rId2"/>
          <a:stretch>
            <a:fillRect/>
          </a:stretch>
        </p:blipFill>
        <p:spPr>
          <a:xfrm>
            <a:off x="3666437" y="1874519"/>
            <a:ext cx="4828645" cy="4114801"/>
          </a:xfrm>
          <a:prstGeom prst="rect">
            <a:avLst/>
          </a:prstGeom>
        </p:spPr>
      </p:pic>
      <p:sp>
        <p:nvSpPr>
          <p:cNvPr id="6" name="TextBox 5"/>
          <p:cNvSpPr txBox="1"/>
          <p:nvPr/>
        </p:nvSpPr>
        <p:spPr>
          <a:xfrm>
            <a:off x="457200" y="6080760"/>
            <a:ext cx="11247120" cy="457200"/>
          </a:xfrm>
          <a:prstGeom prst="rect">
            <a:avLst/>
          </a:prstGeom>
          <a:noFill/>
        </p:spPr>
        <p:txBody>
          <a:bodyPr wrap="square">
            <a:spAutoFit/>
          </a:bodyPr>
          <a:lstStyle/>
          <a:p>
            <a:pPr>
              <a:defRPr sz="1300" i="1">
                <a:solidFill>
                  <a:srgbClr val="666666"/>
                </a:solidFill>
              </a:defRPr>
            </a:pPr>
            <a:r>
              <a:t>Patient-grouped RESPONSE_CR and HIGH_BLAST. PR curves address the class imbalance; reliability curves show how well probabilities are calibrated.</a:t>
            </a:r>
          </a:p>
        </p:txBody>
      </p:sp>
      <p:sp>
        <p:nvSpPr>
          <p:cNvPr id="7" name="TextBox 6"/>
          <p:cNvSpPr txBox="1"/>
          <p:nvPr/>
        </p:nvSpPr>
        <p:spPr>
          <a:xfrm>
            <a:off x="365760" y="6446520"/>
            <a:ext cx="11430000" cy="320040"/>
          </a:xfrm>
          <a:prstGeom prst="rect">
            <a:avLst/>
          </a:prstGeom>
          <a:noFill/>
        </p:spPr>
        <p:txBody>
          <a:bodyPr wrap="none">
            <a:spAutoFit/>
          </a:bodyPr>
          <a:lstStyle/>
          <a:p>
            <a:pPr>
              <a:defRPr sz="900">
                <a:solidFill>
                  <a:srgbClr val="666666"/>
                </a:solidFill>
              </a:defRPr>
            </a:pPr>
            <a:r>
              <a:t>SFB 1709 · B01 · STAMP</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822960"/>
          </a:xfrm>
          <a:prstGeom prst="rect">
            <a:avLst/>
          </a:prstGeom>
          <a:noFill/>
        </p:spPr>
        <p:txBody>
          <a:bodyPr wrap="square">
            <a:spAutoFit/>
          </a:bodyPr>
          <a:lstStyle/>
          <a:p>
            <a:pPr>
              <a:defRPr sz="2800" b="1">
                <a:solidFill>
                  <a:srgbClr val="1A4D8C"/>
                </a:solidFill>
              </a:defRPr>
            </a:pPr>
            <a:r>
              <a:t>Important caveat: what RESPONSE_CR actually measures</a:t>
            </a:r>
          </a:p>
        </p:txBody>
      </p:sp>
      <p:sp>
        <p:nvSpPr>
          <p:cNvPr id="3" name="Rectangle 2"/>
          <p:cNvSpPr/>
          <p:nvPr/>
        </p:nvSpPr>
        <p:spPr>
          <a:xfrm>
            <a:off x="0" y="1170432"/>
            <a:ext cx="12191695" cy="38100"/>
          </a:xfrm>
          <a:prstGeom prst="rect">
            <a:avLst/>
          </a:prstGeom>
          <a:solidFill>
            <a:srgbClr val="1A4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43584"/>
            <a:ext cx="11247120" cy="457200"/>
          </a:xfrm>
          <a:prstGeom prst="rect">
            <a:avLst/>
          </a:prstGeom>
          <a:noFill/>
        </p:spPr>
        <p:txBody>
          <a:bodyPr wrap="square">
            <a:spAutoFit/>
          </a:bodyPr>
          <a:lstStyle/>
          <a:p>
            <a:pPr>
              <a:defRPr sz="1400" i="1">
                <a:solidFill>
                  <a:srgbClr val="666666"/>
                </a:solidFill>
              </a:defRPr>
            </a:pPr>
            <a:r>
              <a:t>RESPONSE_CR ≡ blast &lt; 5% here, so the 'response' model is re-reading blast burden, not an independent treatment outcome.</a:t>
            </a:r>
          </a:p>
        </p:txBody>
      </p:sp>
      <p:pic>
        <p:nvPicPr>
          <p:cNvPr id="5" name="Picture 4" descr="fig_response_beyond_blast.png"/>
          <p:cNvPicPr>
            <a:picLocks noChangeAspect="1"/>
          </p:cNvPicPr>
          <p:nvPr/>
        </p:nvPicPr>
        <p:blipFill>
          <a:blip r:embed="rId2"/>
          <a:stretch>
            <a:fillRect/>
          </a:stretch>
        </p:blipFill>
        <p:spPr>
          <a:xfrm>
            <a:off x="841646" y="1874519"/>
            <a:ext cx="10478227" cy="4114801"/>
          </a:xfrm>
          <a:prstGeom prst="rect">
            <a:avLst/>
          </a:prstGeom>
        </p:spPr>
      </p:pic>
      <p:sp>
        <p:nvSpPr>
          <p:cNvPr id="6" name="TextBox 5"/>
          <p:cNvSpPr txBox="1"/>
          <p:nvPr/>
        </p:nvSpPr>
        <p:spPr>
          <a:xfrm>
            <a:off x="457200" y="6080760"/>
            <a:ext cx="11247120" cy="457200"/>
          </a:xfrm>
          <a:prstGeom prst="rect">
            <a:avLst/>
          </a:prstGeom>
          <a:noFill/>
        </p:spPr>
        <p:txBody>
          <a:bodyPr wrap="square">
            <a:spAutoFit/>
          </a:bodyPr>
          <a:lstStyle/>
          <a:p>
            <a:pPr>
              <a:defRPr sz="1300" i="1">
                <a:solidFill>
                  <a:srgbClr val="666666"/>
                </a:solidFill>
              </a:defRPr>
            </a:pPr>
            <a:r>
              <a:t>In this table, every &lt;5%-blast sample is labelled 'responder' and every ≥5% sample 'non-responder' — RESPONSE_CR is exactly the &lt;5%-blast (morphologic-CR) criterion.</a:t>
            </a:r>
          </a:p>
        </p:txBody>
      </p:sp>
      <p:sp>
        <p:nvSpPr>
          <p:cNvPr id="7" name="TextBox 6"/>
          <p:cNvSpPr txBox="1"/>
          <p:nvPr/>
        </p:nvSpPr>
        <p:spPr>
          <a:xfrm>
            <a:off x="365760" y="6446520"/>
            <a:ext cx="11430000" cy="320040"/>
          </a:xfrm>
          <a:prstGeom prst="rect">
            <a:avLst/>
          </a:prstGeom>
          <a:noFill/>
        </p:spPr>
        <p:txBody>
          <a:bodyPr wrap="none">
            <a:spAutoFit/>
          </a:bodyPr>
          <a:lstStyle/>
          <a:p>
            <a:pPr>
              <a:defRPr sz="900">
                <a:solidFill>
                  <a:srgbClr val="666666"/>
                </a:solidFill>
              </a:defRPr>
            </a:pPr>
            <a:r>
              <a:t>SFB 1709 · B01 · STAMP</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822960"/>
          </a:xfrm>
          <a:prstGeom prst="rect">
            <a:avLst/>
          </a:prstGeom>
          <a:noFill/>
        </p:spPr>
        <p:txBody>
          <a:bodyPr wrap="square">
            <a:spAutoFit/>
          </a:bodyPr>
          <a:lstStyle/>
          <a:p>
            <a:pPr>
              <a:defRPr sz="2800" b="1">
                <a:solidFill>
                  <a:srgbClr val="1A4D8C"/>
                </a:solidFill>
              </a:defRPr>
            </a:pPr>
            <a:r>
              <a:t>Batch-effect check: scan protocol</a:t>
            </a:r>
          </a:p>
        </p:txBody>
      </p:sp>
      <p:sp>
        <p:nvSpPr>
          <p:cNvPr id="3" name="Rectangle 2"/>
          <p:cNvSpPr/>
          <p:nvPr/>
        </p:nvSpPr>
        <p:spPr>
          <a:xfrm>
            <a:off x="0" y="1170432"/>
            <a:ext cx="12191695" cy="38100"/>
          </a:xfrm>
          <a:prstGeom prst="rect">
            <a:avLst/>
          </a:prstGeom>
          <a:solidFill>
            <a:srgbClr val="1A4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43584"/>
            <a:ext cx="11247120" cy="457200"/>
          </a:xfrm>
          <a:prstGeom prst="rect">
            <a:avLst/>
          </a:prstGeom>
          <a:noFill/>
        </p:spPr>
        <p:txBody>
          <a:bodyPr wrap="square">
            <a:spAutoFit/>
          </a:bodyPr>
          <a:lstStyle/>
          <a:p>
            <a:pPr>
              <a:defRPr sz="1400" i="1">
                <a:solidFill>
                  <a:srgbClr val="666666"/>
                </a:solidFill>
              </a:defRPr>
            </a:pPr>
            <a:r>
              <a:t>Score-predicts-protocol AUROC = 0.59 (0.5 = no batch signal).</a:t>
            </a:r>
          </a:p>
        </p:txBody>
      </p:sp>
      <p:pic>
        <p:nvPicPr>
          <p:cNvPr id="5" name="Picture 4" descr="fig_confounder.png"/>
          <p:cNvPicPr>
            <a:picLocks noChangeAspect="1"/>
          </p:cNvPicPr>
          <p:nvPr/>
        </p:nvPicPr>
        <p:blipFill>
          <a:blip r:embed="rId2"/>
          <a:stretch>
            <a:fillRect/>
          </a:stretch>
        </p:blipFill>
        <p:spPr>
          <a:xfrm>
            <a:off x="841646" y="1874519"/>
            <a:ext cx="10478227" cy="4114801"/>
          </a:xfrm>
          <a:prstGeom prst="rect">
            <a:avLst/>
          </a:prstGeom>
        </p:spPr>
      </p:pic>
      <p:sp>
        <p:nvSpPr>
          <p:cNvPr id="6" name="TextBox 5"/>
          <p:cNvSpPr txBox="1"/>
          <p:nvPr/>
        </p:nvSpPr>
        <p:spPr>
          <a:xfrm>
            <a:off x="457200" y="6080760"/>
            <a:ext cx="11247120" cy="457200"/>
          </a:xfrm>
          <a:prstGeom prst="rect">
            <a:avLst/>
          </a:prstGeom>
          <a:noFill/>
        </p:spPr>
        <p:txBody>
          <a:bodyPr wrap="square">
            <a:spAutoFit/>
          </a:bodyPr>
          <a:lstStyle/>
          <a:p>
            <a:pPr>
              <a:defRPr sz="1300" i="1">
                <a:solidFill>
                  <a:srgbClr val="666666"/>
                </a:solidFill>
              </a:defRPr>
            </a:pPr>
            <a:r>
              <a:t>Left: is the scan protocol (5 vs 10 focus points) associated with the label? Right: can the model's score predict the protocol? A high AUROC here would be a red flag.</a:t>
            </a:r>
          </a:p>
        </p:txBody>
      </p:sp>
      <p:sp>
        <p:nvSpPr>
          <p:cNvPr id="7" name="TextBox 6"/>
          <p:cNvSpPr txBox="1"/>
          <p:nvPr/>
        </p:nvSpPr>
        <p:spPr>
          <a:xfrm>
            <a:off x="365760" y="6446520"/>
            <a:ext cx="11430000" cy="320040"/>
          </a:xfrm>
          <a:prstGeom prst="rect">
            <a:avLst/>
          </a:prstGeom>
          <a:noFill/>
        </p:spPr>
        <p:txBody>
          <a:bodyPr wrap="none">
            <a:spAutoFit/>
          </a:bodyPr>
          <a:lstStyle/>
          <a:p>
            <a:pPr>
              <a:defRPr sz="900">
                <a:solidFill>
                  <a:srgbClr val="666666"/>
                </a:solidFill>
              </a:defRPr>
            </a:pPr>
            <a:r>
              <a:t>SFB 1709 · B01 · STAMP</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822960"/>
          </a:xfrm>
          <a:prstGeom prst="rect">
            <a:avLst/>
          </a:prstGeom>
          <a:noFill/>
        </p:spPr>
        <p:txBody>
          <a:bodyPr wrap="square">
            <a:spAutoFit/>
          </a:bodyPr>
          <a:lstStyle/>
          <a:p>
            <a:pPr>
              <a:defRPr sz="2800" b="1">
                <a:solidFill>
                  <a:srgbClr val="1A4D8C"/>
                </a:solidFill>
              </a:defRPr>
            </a:pPr>
            <a:r>
              <a:t>Experiment 6 — Preprocessing quality investigation</a:t>
            </a:r>
          </a:p>
        </p:txBody>
      </p:sp>
      <p:sp>
        <p:nvSpPr>
          <p:cNvPr id="3" name="Rectangle 2"/>
          <p:cNvSpPr/>
          <p:nvPr/>
        </p:nvSpPr>
        <p:spPr>
          <a:xfrm>
            <a:off x="0" y="1170432"/>
            <a:ext cx="12191695" cy="38100"/>
          </a:xfrm>
          <a:prstGeom prst="rect">
            <a:avLst/>
          </a:prstGeom>
          <a:solidFill>
            <a:srgbClr val="1A4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43584"/>
            <a:ext cx="11247120" cy="457200"/>
          </a:xfrm>
          <a:prstGeom prst="rect">
            <a:avLst/>
          </a:prstGeom>
          <a:noFill/>
        </p:spPr>
        <p:txBody>
          <a:bodyPr wrap="square">
            <a:spAutoFit/>
          </a:bodyPr>
          <a:lstStyle/>
          <a:p>
            <a:pPr>
              <a:defRPr sz="1400" i="1">
                <a:solidFill>
                  <a:srgbClr val="666666"/>
                </a:solidFill>
              </a:defRPr>
            </a:pPr>
            <a:r>
              <a:t>Cause: out-of-focus tiles fail the focus filter — the 5- vs 10-Fokuspunkte scan setting. Fix: re-scan.</a:t>
            </a:r>
          </a:p>
        </p:txBody>
      </p:sp>
      <p:pic>
        <p:nvPicPr>
          <p:cNvPr id="5" name="Picture 4" descr="127 26 C Score 0 - 5 Fokuspunkte - entfettet - 2026-03-04 17.28.20__before.jpg"/>
          <p:cNvPicPr>
            <a:picLocks noChangeAspect="1"/>
          </p:cNvPicPr>
          <p:nvPr/>
        </p:nvPicPr>
        <p:blipFill>
          <a:blip r:embed="rId2"/>
          <a:stretch>
            <a:fillRect/>
          </a:stretch>
        </p:blipFill>
        <p:spPr>
          <a:xfrm>
            <a:off x="365760" y="2529586"/>
            <a:ext cx="5486400" cy="2438908"/>
          </a:xfrm>
          <a:prstGeom prst="rect">
            <a:avLst/>
          </a:prstGeom>
        </p:spPr>
      </p:pic>
      <p:pic>
        <p:nvPicPr>
          <p:cNvPr id="6" name="Picture 5" descr="127 26 C Score 0 - 5 Fokuspunkte - entfettet - 2026-03-04 17.28.20__after.jpg"/>
          <p:cNvPicPr>
            <a:picLocks noChangeAspect="1"/>
          </p:cNvPicPr>
          <p:nvPr/>
        </p:nvPicPr>
        <p:blipFill>
          <a:blip r:embed="rId3"/>
          <a:stretch>
            <a:fillRect/>
          </a:stretch>
        </p:blipFill>
        <p:spPr>
          <a:xfrm>
            <a:off x="6309360" y="2529586"/>
            <a:ext cx="5486400" cy="2438908"/>
          </a:xfrm>
          <a:prstGeom prst="rect">
            <a:avLst/>
          </a:prstGeom>
        </p:spPr>
      </p:pic>
      <p:sp>
        <p:nvSpPr>
          <p:cNvPr id="7" name="TextBox 6"/>
          <p:cNvSpPr txBox="1"/>
          <p:nvPr/>
        </p:nvSpPr>
        <p:spPr>
          <a:xfrm>
            <a:off x="365760" y="5806440"/>
            <a:ext cx="5486400" cy="548640"/>
          </a:xfrm>
          <a:prstGeom prst="rect">
            <a:avLst/>
          </a:prstGeom>
          <a:noFill/>
        </p:spPr>
        <p:txBody>
          <a:bodyPr wrap="square">
            <a:spAutoFit/>
          </a:bodyPr>
          <a:lstStyle/>
          <a:p>
            <a:pPr algn="ctr">
              <a:defRPr sz="1200" i="1">
                <a:solidFill>
                  <a:srgbClr val="666666"/>
                </a:solidFill>
              </a:defRPr>
            </a:pPr>
            <a:r>
              <a:t>Before — raw smear (sample 127 26 C); tissue is present.</a:t>
            </a:r>
          </a:p>
        </p:txBody>
      </p:sp>
      <p:sp>
        <p:nvSpPr>
          <p:cNvPr id="8" name="TextBox 7"/>
          <p:cNvSpPr txBox="1"/>
          <p:nvPr/>
        </p:nvSpPr>
        <p:spPr>
          <a:xfrm>
            <a:off x="6309360" y="5806440"/>
            <a:ext cx="5486400" cy="548640"/>
          </a:xfrm>
          <a:prstGeom prst="rect">
            <a:avLst/>
          </a:prstGeom>
          <a:noFill/>
        </p:spPr>
        <p:txBody>
          <a:bodyPr wrap="square">
            <a:spAutoFit/>
          </a:bodyPr>
          <a:lstStyle/>
          <a:p>
            <a:pPr algn="ctr">
              <a:defRPr sz="1200" i="1">
                <a:solidFill>
                  <a:srgbClr val="666666"/>
                </a:solidFill>
              </a:defRPr>
            </a:pPr>
            <a:r>
              <a:t>After — only 4.7% of tiles retained (green kept, red dropped).</a:t>
            </a:r>
          </a:p>
        </p:txBody>
      </p:sp>
      <p:sp>
        <p:nvSpPr>
          <p:cNvPr id="9" name="TextBox 8"/>
          <p:cNvSpPr txBox="1"/>
          <p:nvPr/>
        </p:nvSpPr>
        <p:spPr>
          <a:xfrm>
            <a:off x="365760" y="6446520"/>
            <a:ext cx="11430000" cy="320040"/>
          </a:xfrm>
          <a:prstGeom prst="rect">
            <a:avLst/>
          </a:prstGeom>
          <a:noFill/>
        </p:spPr>
        <p:txBody>
          <a:bodyPr wrap="none">
            <a:spAutoFit/>
          </a:bodyPr>
          <a:lstStyle/>
          <a:p>
            <a:pPr>
              <a:defRPr sz="900">
                <a:solidFill>
                  <a:srgbClr val="666666"/>
                </a:solidFill>
              </a:defRPr>
            </a:pPr>
            <a:r>
              <a:t>SFB 1709 · B01 · STAMP</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822960"/>
          </a:xfrm>
          <a:prstGeom prst="rect">
            <a:avLst/>
          </a:prstGeom>
          <a:noFill/>
        </p:spPr>
        <p:txBody>
          <a:bodyPr wrap="square">
            <a:spAutoFit/>
          </a:bodyPr>
          <a:lstStyle/>
          <a:p>
            <a:pPr>
              <a:defRPr sz="2800" b="1">
                <a:solidFill>
                  <a:srgbClr val="1A4D8C"/>
                </a:solidFill>
              </a:defRPr>
            </a:pPr>
            <a:r>
              <a:t>Experiment 7 — Cell-resolution feasibility pilot</a:t>
            </a:r>
          </a:p>
        </p:txBody>
      </p:sp>
      <p:sp>
        <p:nvSpPr>
          <p:cNvPr id="3" name="Rectangle 2"/>
          <p:cNvSpPr/>
          <p:nvPr/>
        </p:nvSpPr>
        <p:spPr>
          <a:xfrm>
            <a:off x="0" y="1170432"/>
            <a:ext cx="12191695" cy="38100"/>
          </a:xfrm>
          <a:prstGeom prst="rect">
            <a:avLst/>
          </a:prstGeom>
          <a:solidFill>
            <a:srgbClr val="1A4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ontact_sheet.jpg"/>
          <p:cNvPicPr>
            <a:picLocks noChangeAspect="1"/>
          </p:cNvPicPr>
          <p:nvPr/>
        </p:nvPicPr>
        <p:blipFill>
          <a:blip r:embed="rId2"/>
          <a:stretch>
            <a:fillRect/>
          </a:stretch>
        </p:blipFill>
        <p:spPr>
          <a:xfrm>
            <a:off x="2990732" y="1554480"/>
            <a:ext cx="1699496" cy="4297680"/>
          </a:xfrm>
          <a:prstGeom prst="rect">
            <a:avLst/>
          </a:prstGeom>
        </p:spPr>
      </p:pic>
      <p:sp>
        <p:nvSpPr>
          <p:cNvPr id="5" name="TextBox 4"/>
          <p:cNvSpPr txBox="1"/>
          <p:nvPr/>
        </p:nvSpPr>
        <p:spPr>
          <a:xfrm>
            <a:off x="7498079" y="1645920"/>
            <a:ext cx="4297680" cy="4206240"/>
          </a:xfrm>
          <a:prstGeom prst="rect">
            <a:avLst/>
          </a:prstGeom>
          <a:noFill/>
        </p:spPr>
        <p:txBody>
          <a:bodyPr wrap="square">
            <a:spAutoFit/>
          </a:bodyPr>
          <a:lstStyle/>
          <a:p>
            <a:pPr>
              <a:spcAft>
                <a:spcPts val="800"/>
              </a:spcAft>
              <a:defRPr sz="1800">
                <a:solidFill>
                  <a:srgbClr val="222222"/>
                </a:solidFill>
              </a:defRPr>
            </a:pPr>
            <a:r>
              <a:t>• Can individual cells be resolved in the tiles the model selects?</a:t>
            </a:r>
          </a:p>
          <a:p>
            <a:pPr>
              <a:spcAft>
                <a:spcPts val="800"/>
              </a:spcAft>
              <a:defRPr sz="1800">
                <a:solidFill>
                  <a:srgbClr val="222222"/>
                </a:solidFill>
              </a:defRPr>
            </a:pPr>
            <a:r>
              <a:t>• A prerequisite check before any cell-level (DeepHeme-style) model.</a:t>
            </a:r>
          </a:p>
          <a:p>
            <a:pPr>
              <a:spcAft>
                <a:spcPts val="800"/>
              </a:spcAft>
              <a:defRPr sz="1800">
                <a:solidFill>
                  <a:srgbClr val="222222"/>
                </a:solidFill>
              </a:defRPr>
            </a:pPr>
            <a:r>
              <a:t>• 12-slide deck: 5 regression failures, 4 high-blast, 3 low-blast.</a:t>
            </a:r>
          </a:p>
          <a:p>
            <a:pPr lvl="1">
              <a:spcAft>
                <a:spcPts val="800"/>
              </a:spcAft>
              <a:defRPr sz="1600">
                <a:solidFill>
                  <a:srgbClr val="666666"/>
                </a:solidFill>
              </a:defRPr>
            </a:pPr>
            <a:r>
              <a:t>– Uses existing native-resolution tiles; no new training.</a:t>
            </a:r>
          </a:p>
          <a:p>
            <a:pPr lvl="1">
              <a:spcAft>
                <a:spcPts val="800"/>
              </a:spcAft>
              <a:defRPr sz="1600">
                <a:solidFill>
                  <a:srgbClr val="666666"/>
                </a:solidFill>
              </a:defRPr>
            </a:pPr>
            <a:r>
              <a:t>– Status: assembled; awaiting pathologist read-out.</a:t>
            </a:r>
          </a:p>
        </p:txBody>
      </p:sp>
      <p:sp>
        <p:nvSpPr>
          <p:cNvPr id="6" name="TextBox 5"/>
          <p:cNvSpPr txBox="1"/>
          <p:nvPr/>
        </p:nvSpPr>
        <p:spPr>
          <a:xfrm>
            <a:off x="457200" y="5943600"/>
            <a:ext cx="6766560" cy="457200"/>
          </a:xfrm>
          <a:prstGeom prst="rect">
            <a:avLst/>
          </a:prstGeom>
          <a:noFill/>
        </p:spPr>
        <p:txBody>
          <a:bodyPr wrap="square">
            <a:spAutoFit/>
          </a:bodyPr>
          <a:lstStyle/>
          <a:p>
            <a:pPr>
              <a:defRPr sz="1300" i="1">
                <a:solidFill>
                  <a:srgbClr val="666666"/>
                </a:solidFill>
              </a:defRPr>
            </a:pPr>
            <a:r>
              <a:t>Model-selected tiles + centred zooms for one high-blast case; assembled for hematopathologist review.</a:t>
            </a:r>
          </a:p>
        </p:txBody>
      </p:sp>
      <p:sp>
        <p:nvSpPr>
          <p:cNvPr id="7" name="TextBox 6"/>
          <p:cNvSpPr txBox="1"/>
          <p:nvPr/>
        </p:nvSpPr>
        <p:spPr>
          <a:xfrm>
            <a:off x="365760" y="6446520"/>
            <a:ext cx="11430000" cy="320040"/>
          </a:xfrm>
          <a:prstGeom prst="rect">
            <a:avLst/>
          </a:prstGeom>
          <a:noFill/>
        </p:spPr>
        <p:txBody>
          <a:bodyPr wrap="none">
            <a:spAutoFit/>
          </a:bodyPr>
          <a:lstStyle/>
          <a:p>
            <a:pPr>
              <a:defRPr sz="900">
                <a:solidFill>
                  <a:srgbClr val="666666"/>
                </a:solidFill>
              </a:defRPr>
            </a:pPr>
            <a:r>
              <a:t>SFB 1709 · B01 · STAMP</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822960"/>
          </a:xfrm>
          <a:prstGeom prst="rect">
            <a:avLst/>
          </a:prstGeom>
          <a:noFill/>
        </p:spPr>
        <p:txBody>
          <a:bodyPr wrap="square">
            <a:spAutoFit/>
          </a:bodyPr>
          <a:lstStyle/>
          <a:p>
            <a:pPr>
              <a:defRPr sz="2800" b="1">
                <a:solidFill>
                  <a:srgbClr val="1A4D8C"/>
                </a:solidFill>
              </a:defRPr>
            </a:pPr>
            <a:r>
              <a:t>Summary of findings</a:t>
            </a:r>
          </a:p>
        </p:txBody>
      </p:sp>
      <p:sp>
        <p:nvSpPr>
          <p:cNvPr id="3" name="Rectangle 2"/>
          <p:cNvSpPr/>
          <p:nvPr/>
        </p:nvSpPr>
        <p:spPr>
          <a:xfrm>
            <a:off x="0" y="1170432"/>
            <a:ext cx="12191695" cy="38100"/>
          </a:xfrm>
          <a:prstGeom prst="rect">
            <a:avLst/>
          </a:prstGeom>
          <a:solidFill>
            <a:srgbClr val="1A4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43584"/>
            <a:ext cx="11247120" cy="457200"/>
          </a:xfrm>
          <a:prstGeom prst="rect">
            <a:avLst/>
          </a:prstGeom>
          <a:noFill/>
        </p:spPr>
        <p:txBody>
          <a:bodyPr wrap="square">
            <a:spAutoFit/>
          </a:bodyPr>
          <a:lstStyle/>
          <a:p>
            <a:pPr>
              <a:defRPr sz="1400" i="1">
                <a:solidFill>
                  <a:srgbClr val="666666"/>
                </a:solidFill>
              </a:defRPr>
            </a:pPr>
            <a:r>
              <a:t>Robust, interpretable blast-burden reading; the 'response' label needs decoupling from blast count.</a:t>
            </a:r>
          </a:p>
        </p:txBody>
      </p:sp>
      <p:sp>
        <p:nvSpPr>
          <p:cNvPr id="5" name="TextBox 4"/>
          <p:cNvSpPr txBox="1"/>
          <p:nvPr/>
        </p:nvSpPr>
        <p:spPr>
          <a:xfrm>
            <a:off x="548640" y="1874519"/>
            <a:ext cx="11155680" cy="4114800"/>
          </a:xfrm>
          <a:prstGeom prst="rect">
            <a:avLst/>
          </a:prstGeom>
          <a:noFill/>
        </p:spPr>
        <p:txBody>
          <a:bodyPr wrap="square">
            <a:spAutoFit/>
          </a:bodyPr>
          <a:lstStyle/>
          <a:p>
            <a:pPr>
              <a:spcAft>
                <a:spcPts val="700"/>
              </a:spcAft>
              <a:defRPr sz="2000">
                <a:solidFill>
                  <a:srgbClr val="222222"/>
                </a:solidFill>
              </a:defRPr>
            </a:pPr>
            <a:r>
              <a:t>• The models reliably read blast burden from morphology: HIGH_BLAST AUROC 0.90, robust to the leakage fix.</a:t>
            </a:r>
          </a:p>
          <a:p>
            <a:pPr>
              <a:spcAft>
                <a:spcPts val="700"/>
              </a:spcAft>
              <a:defRPr sz="2000">
                <a:solidFill>
                  <a:srgbClr val="222222"/>
                </a:solidFill>
              </a:defRPr>
            </a:pPr>
            <a:r>
              <a:t>• Caveat: RESPONSE_CR ≡ blast &lt;5% here, so it is not yet an independent treatment outcome.</a:t>
            </a:r>
          </a:p>
          <a:p>
            <a:pPr>
              <a:spcAft>
                <a:spcPts val="700"/>
              </a:spcAft>
              <a:defRPr sz="2000">
                <a:solidFill>
                  <a:srgbClr val="222222"/>
                </a:solidFill>
              </a:defRPr>
            </a:pPr>
            <a:r>
              <a:t>• Attention is interpretable: HIGH_BLAST maps localise blast-rich tissue.</a:t>
            </a:r>
          </a:p>
          <a:p>
            <a:pPr>
              <a:spcAft>
                <a:spcPts val="700"/>
              </a:spcAft>
              <a:defRPr sz="2000">
                <a:solidFill>
                  <a:srgbClr val="222222"/>
                </a:solidFill>
              </a:defRPr>
            </a:pPr>
            <a:r>
              <a:t>• Blast-% regression ranks but is not calibrated — use ordering only.</a:t>
            </a:r>
          </a:p>
          <a:p>
            <a:pPr>
              <a:spcAft>
                <a:spcPts val="700"/>
              </a:spcAft>
              <a:defRPr sz="2000">
                <a:solidFill>
                  <a:srgbClr val="222222"/>
                </a:solidFill>
              </a:defRPr>
            </a:pPr>
            <a:r>
              <a:t>• No strong scanner-batch confound (protocol-from-score AUROC 0.59); focus is a fixable bottleneck.</a:t>
            </a:r>
          </a:p>
        </p:txBody>
      </p:sp>
      <p:sp>
        <p:nvSpPr>
          <p:cNvPr id="6" name="TextBox 5"/>
          <p:cNvSpPr txBox="1"/>
          <p:nvPr/>
        </p:nvSpPr>
        <p:spPr>
          <a:xfrm>
            <a:off x="365760" y="6446520"/>
            <a:ext cx="11430000" cy="320040"/>
          </a:xfrm>
          <a:prstGeom prst="rect">
            <a:avLst/>
          </a:prstGeom>
          <a:noFill/>
        </p:spPr>
        <p:txBody>
          <a:bodyPr wrap="none">
            <a:spAutoFit/>
          </a:bodyPr>
          <a:lstStyle/>
          <a:p>
            <a:pPr>
              <a:defRPr sz="900">
                <a:solidFill>
                  <a:srgbClr val="666666"/>
                </a:solidFill>
              </a:defRPr>
            </a:pPr>
            <a:r>
              <a:t>SFB 1709 · B01 · STAMP</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822960"/>
          </a:xfrm>
          <a:prstGeom prst="rect">
            <a:avLst/>
          </a:prstGeom>
          <a:noFill/>
        </p:spPr>
        <p:txBody>
          <a:bodyPr wrap="square">
            <a:spAutoFit/>
          </a:bodyPr>
          <a:lstStyle/>
          <a:p>
            <a:pPr>
              <a:defRPr sz="2800" b="1">
                <a:solidFill>
                  <a:srgbClr val="1A4D8C"/>
                </a:solidFill>
              </a:defRPr>
            </a:pPr>
            <a:r>
              <a:t>Limitations</a:t>
            </a:r>
          </a:p>
        </p:txBody>
      </p:sp>
      <p:sp>
        <p:nvSpPr>
          <p:cNvPr id="3" name="Rectangle 2"/>
          <p:cNvSpPr/>
          <p:nvPr/>
        </p:nvSpPr>
        <p:spPr>
          <a:xfrm>
            <a:off x="0" y="1170432"/>
            <a:ext cx="12191695" cy="38100"/>
          </a:xfrm>
          <a:prstGeom prst="rect">
            <a:avLst/>
          </a:prstGeom>
          <a:solidFill>
            <a:srgbClr val="1A4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0"/>
            <a:ext cx="11155680" cy="4114800"/>
          </a:xfrm>
          <a:prstGeom prst="rect">
            <a:avLst/>
          </a:prstGeom>
          <a:noFill/>
        </p:spPr>
        <p:txBody>
          <a:bodyPr wrap="square">
            <a:spAutoFit/>
          </a:bodyPr>
          <a:lstStyle/>
          <a:p>
            <a:pPr>
              <a:spcAft>
                <a:spcPts val="700"/>
              </a:spcAft>
              <a:defRPr sz="2000">
                <a:solidFill>
                  <a:srgbClr val="222222"/>
                </a:solidFill>
              </a:defRPr>
            </a:pPr>
            <a:r>
              <a:t>• RESPONSE_CR label ≡ blast &lt;5% — reflects the CR criterion, not an independent outcome.</a:t>
            </a:r>
          </a:p>
          <a:p>
            <a:pPr>
              <a:spcAft>
                <a:spcPts val="700"/>
              </a:spcAft>
              <a:defRPr sz="2000">
                <a:solidFill>
                  <a:srgbClr val="222222"/>
                </a:solidFill>
              </a:defRPr>
            </a:pPr>
            <a:r>
              <a:t>• Labels are slide-level; no cell-level ground truth yet.</a:t>
            </a:r>
          </a:p>
          <a:p>
            <a:pPr>
              <a:spcAft>
                <a:spcPts val="700"/>
              </a:spcAft>
              <a:defRPr sz="2000">
                <a:solidFill>
                  <a:srgbClr val="222222"/>
                </a:solidFill>
              </a:defRPr>
            </a:pPr>
            <a:r>
              <a:t>• Blast-% regression is mis-calibrated on high-blast samples.</a:t>
            </a:r>
          </a:p>
          <a:p>
            <a:pPr>
              <a:spcAft>
                <a:spcPts val="700"/>
              </a:spcAft>
              <a:defRPr sz="2000">
                <a:solidFill>
                  <a:srgbClr val="222222"/>
                </a:solidFill>
              </a:defRPr>
            </a:pPr>
            <a:r>
              <a:t>• Some confident errors may be label noise — need pathologist adjudication.</a:t>
            </a:r>
          </a:p>
          <a:p>
            <a:pPr>
              <a:spcAft>
                <a:spcPts val="700"/>
              </a:spcAft>
              <a:defRPr sz="2000">
                <a:solidFill>
                  <a:srgbClr val="222222"/>
                </a:solidFill>
              </a:defRPr>
            </a:pPr>
            <a:r>
              <a:t>• Single-center cohort; external validation pending.</a:t>
            </a:r>
          </a:p>
        </p:txBody>
      </p:sp>
      <p:sp>
        <p:nvSpPr>
          <p:cNvPr id="5" name="TextBox 4"/>
          <p:cNvSpPr txBox="1"/>
          <p:nvPr/>
        </p:nvSpPr>
        <p:spPr>
          <a:xfrm>
            <a:off x="365760" y="6446520"/>
            <a:ext cx="11430000" cy="320040"/>
          </a:xfrm>
          <a:prstGeom prst="rect">
            <a:avLst/>
          </a:prstGeom>
          <a:noFill/>
        </p:spPr>
        <p:txBody>
          <a:bodyPr wrap="none">
            <a:spAutoFit/>
          </a:bodyPr>
          <a:lstStyle/>
          <a:p>
            <a:pPr>
              <a:defRPr sz="900">
                <a:solidFill>
                  <a:srgbClr val="666666"/>
                </a:solidFill>
              </a:defRPr>
            </a:pPr>
            <a:r>
              <a:t>SFB 1709 · B01 · STAMP</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822960"/>
          </a:xfrm>
          <a:prstGeom prst="rect">
            <a:avLst/>
          </a:prstGeom>
          <a:noFill/>
        </p:spPr>
        <p:txBody>
          <a:bodyPr wrap="square">
            <a:spAutoFit/>
          </a:bodyPr>
          <a:lstStyle/>
          <a:p>
            <a:pPr>
              <a:defRPr sz="2800" b="1">
                <a:solidFill>
                  <a:srgbClr val="1A4D8C"/>
                </a:solidFill>
              </a:defRPr>
            </a:pPr>
            <a:r>
              <a:t>Proposed next steps</a:t>
            </a:r>
          </a:p>
        </p:txBody>
      </p:sp>
      <p:sp>
        <p:nvSpPr>
          <p:cNvPr id="3" name="Rectangle 2"/>
          <p:cNvSpPr/>
          <p:nvPr/>
        </p:nvSpPr>
        <p:spPr>
          <a:xfrm>
            <a:off x="0" y="1170432"/>
            <a:ext cx="12191695" cy="38100"/>
          </a:xfrm>
          <a:prstGeom prst="rect">
            <a:avLst/>
          </a:prstGeom>
          <a:solidFill>
            <a:srgbClr val="1A4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43584"/>
            <a:ext cx="11247120" cy="457200"/>
          </a:xfrm>
          <a:prstGeom prst="rect">
            <a:avLst/>
          </a:prstGeom>
          <a:noFill/>
        </p:spPr>
        <p:txBody>
          <a:bodyPr wrap="square">
            <a:spAutoFit/>
          </a:bodyPr>
          <a:lstStyle/>
          <a:p>
            <a:pPr>
              <a:defRPr sz="1400" i="1">
                <a:solidFill>
                  <a:srgbClr val="666666"/>
                </a:solidFill>
              </a:defRPr>
            </a:pPr>
            <a:r>
              <a:t>Immediate priority: pin down the response label, then pathologist review + re-scan.</a:t>
            </a:r>
          </a:p>
        </p:txBody>
      </p:sp>
      <p:sp>
        <p:nvSpPr>
          <p:cNvPr id="5" name="TextBox 4"/>
          <p:cNvSpPr txBox="1"/>
          <p:nvPr/>
        </p:nvSpPr>
        <p:spPr>
          <a:xfrm>
            <a:off x="548640" y="1874519"/>
            <a:ext cx="11155680" cy="4114800"/>
          </a:xfrm>
          <a:prstGeom prst="rect">
            <a:avLst/>
          </a:prstGeom>
          <a:noFill/>
        </p:spPr>
        <p:txBody>
          <a:bodyPr wrap="square">
            <a:spAutoFit/>
          </a:bodyPr>
          <a:lstStyle/>
          <a:p>
            <a:pPr>
              <a:spcAft>
                <a:spcPts val="700"/>
              </a:spcAft>
              <a:defRPr sz="2000">
                <a:solidFill>
                  <a:srgbClr val="222222"/>
                </a:solidFill>
              </a:defRPr>
            </a:pPr>
            <a:r>
              <a:t>• Immediate: confirm RESPONSE_CR definition; obtain an outcome decoupled from same-slide blast count.</a:t>
            </a:r>
          </a:p>
          <a:p>
            <a:pPr>
              <a:spcAft>
                <a:spcPts val="700"/>
              </a:spcAft>
              <a:defRPr sz="2000">
                <a:solidFill>
                  <a:srgbClr val="222222"/>
                </a:solidFill>
              </a:defRPr>
            </a:pPr>
            <a:r>
              <a:t>• Short term: hematopathologist review of the 12-slide pilot and the confident-error list.</a:t>
            </a:r>
          </a:p>
          <a:p>
            <a:pPr>
              <a:spcAft>
                <a:spcPts val="700"/>
              </a:spcAft>
              <a:defRPr sz="2000">
                <a:solidFill>
                  <a:srgbClr val="222222"/>
                </a:solidFill>
              </a:defRPr>
            </a:pPr>
            <a:r>
              <a:t>• Short term: re-scan low-focus slides at full focus and re-run those samples.</a:t>
            </a:r>
          </a:p>
          <a:p>
            <a:pPr>
              <a:spcAft>
                <a:spcPts val="700"/>
              </a:spcAft>
              <a:defRPr sz="2000">
                <a:solidFill>
                  <a:srgbClr val="222222"/>
                </a:solidFill>
              </a:defRPr>
            </a:pPr>
            <a:r>
              <a:t>• Medium: recalibrate/reframe blast-% (ordinal); annotate the intermediate band; add stain normalization.</a:t>
            </a:r>
          </a:p>
          <a:p>
            <a:pPr>
              <a:spcAft>
                <a:spcPts val="700"/>
              </a:spcAft>
              <a:defRPr sz="2000">
                <a:solidFill>
                  <a:srgbClr val="222222"/>
                </a:solidFill>
              </a:defRPr>
            </a:pPr>
            <a:r>
              <a:t>• Long term: integrate morphology with single-cell RNA-seq for biomarkers; external validation.</a:t>
            </a:r>
          </a:p>
        </p:txBody>
      </p:sp>
      <p:sp>
        <p:nvSpPr>
          <p:cNvPr id="6" name="TextBox 5"/>
          <p:cNvSpPr txBox="1"/>
          <p:nvPr/>
        </p:nvSpPr>
        <p:spPr>
          <a:xfrm>
            <a:off x="365760" y="6446520"/>
            <a:ext cx="11430000" cy="320040"/>
          </a:xfrm>
          <a:prstGeom prst="rect">
            <a:avLst/>
          </a:prstGeom>
          <a:noFill/>
        </p:spPr>
        <p:txBody>
          <a:bodyPr wrap="none">
            <a:spAutoFit/>
          </a:bodyPr>
          <a:lstStyle/>
          <a:p>
            <a:pPr>
              <a:defRPr sz="900">
                <a:solidFill>
                  <a:srgbClr val="666666"/>
                </a:solidFill>
              </a:defRPr>
            </a:pPr>
            <a:r>
              <a:t>SFB 1709 · B01 · STAMP</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822960"/>
          </a:xfrm>
          <a:prstGeom prst="rect">
            <a:avLst/>
          </a:prstGeom>
          <a:noFill/>
        </p:spPr>
        <p:txBody>
          <a:bodyPr wrap="square">
            <a:spAutoFit/>
          </a:bodyPr>
          <a:lstStyle/>
          <a:p>
            <a:pPr>
              <a:defRPr sz="2800" b="1">
                <a:solidFill>
                  <a:srgbClr val="1A4D8C"/>
                </a:solidFill>
              </a:defRPr>
            </a:pPr>
            <a:r>
              <a:t>Summary</a:t>
            </a:r>
          </a:p>
        </p:txBody>
      </p:sp>
      <p:sp>
        <p:nvSpPr>
          <p:cNvPr id="3" name="Rectangle 2"/>
          <p:cNvSpPr/>
          <p:nvPr/>
        </p:nvSpPr>
        <p:spPr>
          <a:xfrm>
            <a:off x="0" y="1170432"/>
            <a:ext cx="12191695" cy="38100"/>
          </a:xfrm>
          <a:prstGeom prst="rect">
            <a:avLst/>
          </a:prstGeom>
          <a:solidFill>
            <a:srgbClr val="1A4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43584"/>
            <a:ext cx="11247120" cy="457200"/>
          </a:xfrm>
          <a:prstGeom prst="rect">
            <a:avLst/>
          </a:prstGeom>
          <a:noFill/>
        </p:spPr>
        <p:txBody>
          <a:bodyPr wrap="square">
            <a:spAutoFit/>
          </a:bodyPr>
          <a:lstStyle/>
          <a:p>
            <a:pPr>
              <a:defRPr sz="1400" i="1">
                <a:solidFill>
                  <a:srgbClr val="666666"/>
                </a:solidFill>
              </a:defRPr>
            </a:pPr>
            <a:r>
              <a:t>Thank you — I welcome your feedback and questions.</a:t>
            </a:r>
          </a:p>
        </p:txBody>
      </p:sp>
      <p:sp>
        <p:nvSpPr>
          <p:cNvPr id="5" name="TextBox 4"/>
          <p:cNvSpPr txBox="1"/>
          <p:nvPr/>
        </p:nvSpPr>
        <p:spPr>
          <a:xfrm>
            <a:off x="548640" y="1874519"/>
            <a:ext cx="11155680" cy="4114800"/>
          </a:xfrm>
          <a:prstGeom prst="rect">
            <a:avLst/>
          </a:prstGeom>
          <a:noFill/>
        </p:spPr>
        <p:txBody>
          <a:bodyPr wrap="square">
            <a:spAutoFit/>
          </a:bodyPr>
          <a:lstStyle/>
          <a:p>
            <a:pPr>
              <a:spcAft>
                <a:spcPts val="700"/>
              </a:spcAft>
              <a:defRPr sz="2000">
                <a:solidFill>
                  <a:srgbClr val="222222"/>
                </a:solidFill>
              </a:defRPr>
            </a:pPr>
            <a:r>
              <a:t>• Honest, patient-grouped: morphology reads blast burden well (HIGH_BLAST 0.90).</a:t>
            </a:r>
          </a:p>
          <a:p>
            <a:pPr>
              <a:spcAft>
                <a:spcPts val="700"/>
              </a:spcAft>
              <a:defRPr sz="2000">
                <a:solidFill>
                  <a:srgbClr val="222222"/>
                </a:solidFill>
              </a:defRPr>
            </a:pPr>
            <a:r>
              <a:t>• Key caveat surfaced: RESPONSE_CR ≡ blast &lt;5% — decouple the outcome before claiming response prediction.</a:t>
            </a:r>
          </a:p>
          <a:p>
            <a:pPr>
              <a:spcAft>
                <a:spcPts val="700"/>
              </a:spcAft>
              <a:defRPr sz="2000">
                <a:solidFill>
                  <a:srgbClr val="222222"/>
                </a:solidFill>
              </a:defRPr>
            </a:pPr>
            <a:r>
              <a:t>• Interpretable, auditable predictions; no strong scanner-batch confound.</a:t>
            </a:r>
          </a:p>
          <a:p>
            <a:pPr>
              <a:spcAft>
                <a:spcPts val="700"/>
              </a:spcAft>
              <a:defRPr sz="2000">
                <a:solidFill>
                  <a:srgbClr val="222222"/>
                </a:solidFill>
              </a:defRPr>
            </a:pPr>
            <a:r>
              <a:t>• Clear next actions: confirm labels, pathologist review, re-scan, recalibrate, annotate.</a:t>
            </a:r>
          </a:p>
          <a:p>
            <a:pPr>
              <a:spcAft>
                <a:spcPts val="700"/>
              </a:spcAft>
              <a:defRPr sz="2000">
                <a:solidFill>
                  <a:srgbClr val="222222"/>
                </a:solidFill>
              </a:defRPr>
            </a:pPr>
            <a:r>
              <a:t>• Next horizon: morphology + single-cell transcriptomics for VEN/AZA biomarkers.</a:t>
            </a:r>
          </a:p>
        </p:txBody>
      </p:sp>
      <p:sp>
        <p:nvSpPr>
          <p:cNvPr id="6" name="TextBox 5"/>
          <p:cNvSpPr txBox="1"/>
          <p:nvPr/>
        </p:nvSpPr>
        <p:spPr>
          <a:xfrm>
            <a:off x="365760" y="6446520"/>
            <a:ext cx="11430000" cy="320040"/>
          </a:xfrm>
          <a:prstGeom prst="rect">
            <a:avLst/>
          </a:prstGeom>
          <a:noFill/>
        </p:spPr>
        <p:txBody>
          <a:bodyPr wrap="none">
            <a:spAutoFit/>
          </a:bodyPr>
          <a:lstStyle/>
          <a:p>
            <a:pPr>
              <a:defRPr sz="900">
                <a:solidFill>
                  <a:srgbClr val="666666"/>
                </a:solidFill>
              </a:defRPr>
            </a:pPr>
            <a:r>
              <a:t>SFB 1709 · B01 · STAMP</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Box 1"/>
          <p:cNvSpPr txBox="1"/>
          <p:nvPr/>
        </p:nvSpPr>
        <p:spPr>
          <a:xfrm>
            <a:off x="457200" y="320040"/>
            <a:ext cx="11247120" cy="822960"/>
          </a:xfrm>
          <a:prstGeom prst="rect">
            <a:avLst/>
          </a:prstGeom>
          <a:noFill/>
        </p:spPr>
        <p:txBody>
          <a:bodyPr wrap="square">
            <a:spAutoFit/>
          </a:bodyPr>
          <a:lstStyle/>
          <a:p>
            <a:pPr>
              <a:defRPr sz="2800" b="1">
                <a:solidFill>
                  <a:srgbClr val="1A4D8C"/>
                </a:solidFill>
              </a:defRPr>
            </a:pPr>
            <a:r>
              <a:t>Appendix — backup slides</a:t>
            </a:r>
          </a:p>
        </p:txBody>
      </p:sp>
      <p:sp>
        <p:nvSpPr>
          <p:cNvPr id="3" name="Rectangle 2"/>
          <p:cNvSpPr/>
          <p:nvPr/>
        </p:nvSpPr>
        <p:spPr>
          <a:xfrm>
            <a:off x="0" y="1170432"/>
            <a:ext cx="12191695" cy="38100"/>
          </a:xfrm>
          <a:prstGeom prst="rect">
            <a:avLst/>
          </a:prstGeom>
          <a:solidFill>
            <a:srgbClr val="1A4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43584"/>
            <a:ext cx="11247120" cy="457200"/>
          </a:xfrm>
          <a:prstGeom prst="rect">
            <a:avLst/>
          </a:prstGeom>
          <a:noFill/>
        </p:spPr>
        <p:txBody>
          <a:bodyPr wrap="square">
            <a:spAutoFit/>
          </a:bodyPr>
          <a:lstStyle/>
          <a:p>
            <a:pPr>
              <a:defRPr sz="1400" i="1">
                <a:solidFill>
                  <a:srgbClr val="666666"/>
                </a:solidFill>
              </a:defRPr>
            </a:pPr>
            <a:r>
              <a:t>Reference material for discussion.</a:t>
            </a:r>
          </a:p>
        </p:txBody>
      </p:sp>
      <p:sp>
        <p:nvSpPr>
          <p:cNvPr id="5" name="TextBox 4"/>
          <p:cNvSpPr txBox="1"/>
          <p:nvPr/>
        </p:nvSpPr>
        <p:spPr>
          <a:xfrm>
            <a:off x="548640" y="1874519"/>
            <a:ext cx="11155680" cy="4114800"/>
          </a:xfrm>
          <a:prstGeom prst="rect">
            <a:avLst/>
          </a:prstGeom>
          <a:noFill/>
        </p:spPr>
        <p:txBody>
          <a:bodyPr wrap="square">
            <a:spAutoFit/>
          </a:bodyPr>
          <a:lstStyle/>
          <a:p>
            <a:pPr>
              <a:spcAft>
                <a:spcPts val="700"/>
              </a:spcAft>
              <a:defRPr sz="2000">
                <a:solidFill>
                  <a:srgbClr val="222222"/>
                </a:solidFill>
              </a:defRPr>
            </a:pPr>
            <a:r>
              <a:t>• Patient- vs sample-level leakage detail</a:t>
            </a:r>
          </a:p>
          <a:p>
            <a:pPr>
              <a:spcAft>
                <a:spcPts val="700"/>
              </a:spcAft>
              <a:defRPr sz="2000">
                <a:solidFill>
                  <a:srgbClr val="222222"/>
                </a:solidFill>
              </a:defRPr>
            </a:pPr>
            <a:r>
              <a:t>• Full metrics table (sample vs patient, all tasks)</a:t>
            </a:r>
          </a:p>
          <a:p>
            <a:pPr>
              <a:spcAft>
                <a:spcPts val="700"/>
              </a:spcAft>
              <a:defRPr sz="2000">
                <a:solidFill>
                  <a:srgbClr val="222222"/>
                </a:solidFill>
              </a:defRPr>
            </a:pPr>
            <a:r>
              <a:t>• RESPONSE_CR definition checklist</a:t>
            </a:r>
          </a:p>
          <a:p>
            <a:pPr>
              <a:spcAft>
                <a:spcPts val="700"/>
              </a:spcAft>
              <a:defRPr sz="2000">
                <a:solidFill>
                  <a:srgbClr val="222222"/>
                </a:solidFill>
              </a:defRPr>
            </a:pPr>
            <a:r>
              <a:t>• Anticipated questions</a:t>
            </a:r>
          </a:p>
        </p:txBody>
      </p:sp>
      <p:sp>
        <p:nvSpPr>
          <p:cNvPr id="6" name="TextBox 5"/>
          <p:cNvSpPr txBox="1"/>
          <p:nvPr/>
        </p:nvSpPr>
        <p:spPr>
          <a:xfrm>
            <a:off x="365760" y="6446520"/>
            <a:ext cx="11430000" cy="320040"/>
          </a:xfrm>
          <a:prstGeom prst="rect">
            <a:avLst/>
          </a:prstGeom>
          <a:noFill/>
        </p:spPr>
        <p:txBody>
          <a:bodyPr wrap="none">
            <a:spAutoFit/>
          </a:bodyPr>
          <a:lstStyle/>
          <a:p>
            <a:pPr>
              <a:defRPr sz="900">
                <a:solidFill>
                  <a:srgbClr val="666666"/>
                </a:solidFill>
              </a:defRPr>
            </a:pPr>
            <a:r>
              <a:t>SFB 1709 · B01 · STAMP</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Box 1"/>
          <p:cNvSpPr txBox="1"/>
          <p:nvPr/>
        </p:nvSpPr>
        <p:spPr>
          <a:xfrm>
            <a:off x="457200" y="320040"/>
            <a:ext cx="11247120" cy="822960"/>
          </a:xfrm>
          <a:prstGeom prst="rect">
            <a:avLst/>
          </a:prstGeom>
          <a:noFill/>
        </p:spPr>
        <p:txBody>
          <a:bodyPr wrap="square">
            <a:spAutoFit/>
          </a:bodyPr>
          <a:lstStyle/>
          <a:p>
            <a:pPr>
              <a:defRPr sz="2800" b="1">
                <a:solidFill>
                  <a:srgbClr val="1A4D8C"/>
                </a:solidFill>
              </a:defRPr>
            </a:pPr>
            <a:r>
              <a:t>Appendix — why sample-split leaks</a:t>
            </a:r>
          </a:p>
        </p:txBody>
      </p:sp>
      <p:sp>
        <p:nvSpPr>
          <p:cNvPr id="3" name="Rectangle 2"/>
          <p:cNvSpPr/>
          <p:nvPr/>
        </p:nvSpPr>
        <p:spPr>
          <a:xfrm>
            <a:off x="0" y="1170432"/>
            <a:ext cx="12191695" cy="38100"/>
          </a:xfrm>
          <a:prstGeom prst="rect">
            <a:avLst/>
          </a:prstGeom>
          <a:solidFill>
            <a:srgbClr val="1A4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0"/>
            <a:ext cx="11155680" cy="4114800"/>
          </a:xfrm>
          <a:prstGeom prst="rect">
            <a:avLst/>
          </a:prstGeom>
          <a:noFill/>
        </p:spPr>
        <p:txBody>
          <a:bodyPr wrap="square">
            <a:spAutoFit/>
          </a:bodyPr>
          <a:lstStyle/>
          <a:p>
            <a:pPr>
              <a:spcAft>
                <a:spcPts val="700"/>
              </a:spcAft>
              <a:defRPr sz="2000">
                <a:solidFill>
                  <a:srgbClr val="222222"/>
                </a:solidFill>
              </a:defRPr>
            </a:pPr>
            <a:r>
              <a:t>• 69 patients but 489 samples: mean 7.1, max 24 smears per patient.</a:t>
            </a:r>
          </a:p>
          <a:p>
            <a:pPr>
              <a:spcAft>
                <a:spcPts val="700"/>
              </a:spcAft>
              <a:defRPr sz="2000">
                <a:solidFill>
                  <a:srgbClr val="222222"/>
                </a:solidFill>
              </a:defRPr>
            </a:pPr>
            <a:r>
              <a:t>• RESPONSE_CR is one outcome per patient, copied to every smear of that patient.</a:t>
            </a:r>
          </a:p>
          <a:p>
            <a:pPr>
              <a:spcAft>
                <a:spcPts val="700"/>
              </a:spcAft>
              <a:defRPr sz="2000">
                <a:solidFill>
                  <a:srgbClr val="222222"/>
                </a:solidFill>
              </a:defRPr>
            </a:pPr>
            <a:r>
              <a:t>• Sample-split CV puts a patient's other smears in training → memorisation, not generalisation.</a:t>
            </a:r>
          </a:p>
          <a:p>
            <a:pPr>
              <a:spcAft>
                <a:spcPts val="700"/>
              </a:spcAft>
              <a:defRPr sz="2000">
                <a:solidFill>
                  <a:srgbClr val="222222"/>
                </a:solidFill>
              </a:defRPr>
            </a:pPr>
            <a:r>
              <a:t>• Result: AUROC inflated by +0.05 (RESPONSE_CR), +0.03 (HIGH_BLAST).</a:t>
            </a:r>
          </a:p>
          <a:p>
            <a:pPr>
              <a:spcAft>
                <a:spcPts val="700"/>
              </a:spcAft>
              <a:defRPr sz="2000">
                <a:solidFill>
                  <a:srgbClr val="222222"/>
                </a:solidFill>
              </a:defRPr>
            </a:pPr>
            <a:r>
              <a:t>• Patient-grouped StratifiedGroupKFold removes it; every sample still predicted once.</a:t>
            </a:r>
          </a:p>
        </p:txBody>
      </p:sp>
      <p:sp>
        <p:nvSpPr>
          <p:cNvPr id="5" name="TextBox 4"/>
          <p:cNvSpPr txBox="1"/>
          <p:nvPr/>
        </p:nvSpPr>
        <p:spPr>
          <a:xfrm>
            <a:off x="365760" y="6446520"/>
            <a:ext cx="11430000" cy="320040"/>
          </a:xfrm>
          <a:prstGeom prst="rect">
            <a:avLst/>
          </a:prstGeom>
          <a:noFill/>
        </p:spPr>
        <p:txBody>
          <a:bodyPr wrap="none">
            <a:spAutoFit/>
          </a:bodyPr>
          <a:lstStyle/>
          <a:p>
            <a:pPr>
              <a:defRPr sz="900">
                <a:solidFill>
                  <a:srgbClr val="666666"/>
                </a:solidFill>
              </a:defRPr>
            </a:pPr>
            <a:r>
              <a:t>SFB 1709 · B01 · STAMP</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Box 1"/>
          <p:cNvSpPr txBox="1"/>
          <p:nvPr/>
        </p:nvSpPr>
        <p:spPr>
          <a:xfrm>
            <a:off x="457200" y="320040"/>
            <a:ext cx="11247120" cy="822960"/>
          </a:xfrm>
          <a:prstGeom prst="rect">
            <a:avLst/>
          </a:prstGeom>
          <a:noFill/>
        </p:spPr>
        <p:txBody>
          <a:bodyPr wrap="square">
            <a:spAutoFit/>
          </a:bodyPr>
          <a:lstStyle/>
          <a:p>
            <a:pPr>
              <a:defRPr sz="2800" b="1">
                <a:solidFill>
                  <a:srgbClr val="1A4D8C"/>
                </a:solidFill>
              </a:defRPr>
            </a:pPr>
            <a:r>
              <a:t>Appendix — full metrics (sample vs patient)</a:t>
            </a:r>
          </a:p>
        </p:txBody>
      </p:sp>
      <p:sp>
        <p:nvSpPr>
          <p:cNvPr id="3" name="Rectangle 2"/>
          <p:cNvSpPr/>
          <p:nvPr/>
        </p:nvSpPr>
        <p:spPr>
          <a:xfrm>
            <a:off x="0" y="1170432"/>
            <a:ext cx="12191695" cy="38100"/>
          </a:xfrm>
          <a:prstGeom prst="rect">
            <a:avLst/>
          </a:prstGeom>
          <a:solidFill>
            <a:srgbClr val="1A4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57200" y="1600200"/>
          <a:ext cx="12070080" cy="2514600"/>
        </p:xfrm>
        <a:graphic>
          <a:graphicData uri="http://schemas.openxmlformats.org/drawingml/2006/table">
            <a:tbl>
              <a:tblPr firstRow="1" bandRow="1">
                <a:tableStyleId>{5C22544A-7EE6-4342-B048-85BDC9FD1C3A}</a:tableStyleId>
              </a:tblPr>
              <a:tblGrid>
                <a:gridCol w="3108960"/>
                <a:gridCol w="4480560"/>
                <a:gridCol w="4480560"/>
              </a:tblGrid>
              <a:tr h="502920">
                <a:tc>
                  <a:txBody>
                    <a:bodyPr/>
                    <a:lstStyle/>
                    <a:p>
                      <a:pPr>
                        <a:defRPr sz="1500" b="1">
                          <a:solidFill>
                            <a:srgbClr val="FFFFFF"/>
                          </a:solidFill>
                        </a:defRPr>
                      </a:pPr>
                      <a:r>
                        <a:t>Task</a:t>
                      </a:r>
                    </a:p>
                  </a:txBody>
                  <a:tcPr>
                    <a:solidFill>
                      <a:srgbClr val="1A4D8C"/>
                    </a:solidFill>
                  </a:tcPr>
                </a:tc>
                <a:tc>
                  <a:txBody>
                    <a:bodyPr/>
                    <a:lstStyle/>
                    <a:p>
                      <a:pPr>
                        <a:defRPr sz="1500" b="1">
                          <a:solidFill>
                            <a:srgbClr val="FFFFFF"/>
                          </a:solidFill>
                        </a:defRPr>
                      </a:pPr>
                      <a:r>
                        <a:t>Sample-split</a:t>
                      </a:r>
                    </a:p>
                  </a:txBody>
                  <a:tcPr>
                    <a:solidFill>
                      <a:srgbClr val="1A4D8C"/>
                    </a:solidFill>
                  </a:tcPr>
                </a:tc>
                <a:tc>
                  <a:txBody>
                    <a:bodyPr/>
                    <a:lstStyle/>
                    <a:p>
                      <a:pPr>
                        <a:defRPr sz="1500" b="1">
                          <a:solidFill>
                            <a:srgbClr val="FFFFFF"/>
                          </a:solidFill>
                        </a:defRPr>
                      </a:pPr>
                      <a:r>
                        <a:t>Patient-grouped</a:t>
                      </a:r>
                    </a:p>
                  </a:txBody>
                  <a:tcPr>
                    <a:solidFill>
                      <a:srgbClr val="1A4D8C"/>
                    </a:solidFill>
                  </a:tcPr>
                </a:tc>
              </a:tr>
              <a:tr h="502920">
                <a:tc>
                  <a:txBody>
                    <a:bodyPr/>
                    <a:lstStyle/>
                    <a:p>
                      <a:pPr>
                        <a:defRPr sz="1500">
                          <a:solidFill>
                            <a:srgbClr val="222222"/>
                          </a:solidFill>
                        </a:defRPr>
                      </a:pPr>
                      <a:r>
                        <a:t>RESPONSE_CR</a:t>
                      </a:r>
                    </a:p>
                  </a:txBody>
                  <a:tcPr>
                    <a:solidFill>
                      <a:srgbClr val="FFFFFF"/>
                    </a:solidFill>
                  </a:tcPr>
                </a:tc>
                <a:tc>
                  <a:txBody>
                    <a:bodyPr/>
                    <a:lstStyle/>
                    <a:p>
                      <a:pPr>
                        <a:defRPr sz="1500">
                          <a:solidFill>
                            <a:srgbClr val="222222"/>
                          </a:solidFill>
                        </a:defRPr>
                      </a:pPr>
                      <a:r>
                        <a:t>AUROC 0.88 (95% CI 0.84–0.91)</a:t>
                      </a:r>
                    </a:p>
                  </a:txBody>
                  <a:tcPr>
                    <a:solidFill>
                      <a:srgbClr val="FFFFFF"/>
                    </a:solidFill>
                  </a:tcPr>
                </a:tc>
                <a:tc>
                  <a:txBody>
                    <a:bodyPr/>
                    <a:lstStyle/>
                    <a:p>
                      <a:pPr>
                        <a:defRPr sz="1500">
                          <a:solidFill>
                            <a:srgbClr val="222222"/>
                          </a:solidFill>
                        </a:defRPr>
                      </a:pPr>
                      <a:r>
                        <a:t>AUROC 0.83 (95% CI 0.79–0.87)</a:t>
                      </a:r>
                    </a:p>
                  </a:txBody>
                  <a:tcPr>
                    <a:solidFill>
                      <a:srgbClr val="FFFFFF"/>
                    </a:solidFill>
                  </a:tcPr>
                </a:tc>
              </a:tr>
              <a:tr h="502920">
                <a:tc>
                  <a:txBody>
                    <a:bodyPr/>
                    <a:lstStyle/>
                    <a:p>
                      <a:pPr>
                        <a:defRPr sz="1500">
                          <a:solidFill>
                            <a:srgbClr val="222222"/>
                          </a:solidFill>
                        </a:defRPr>
                      </a:pPr>
                      <a:r>
                        <a:t>HIGH_BLAST</a:t>
                      </a:r>
                    </a:p>
                  </a:txBody>
                  <a:tcPr>
                    <a:solidFill>
                      <a:srgbClr val="EEEFF7"/>
                    </a:solidFill>
                  </a:tcPr>
                </a:tc>
                <a:tc>
                  <a:txBody>
                    <a:bodyPr/>
                    <a:lstStyle/>
                    <a:p>
                      <a:pPr>
                        <a:defRPr sz="1500">
                          <a:solidFill>
                            <a:srgbClr val="222222"/>
                          </a:solidFill>
                        </a:defRPr>
                      </a:pPr>
                      <a:r>
                        <a:t>AUROC 0.93 (95% CI 0.90–0.96)</a:t>
                      </a:r>
                    </a:p>
                  </a:txBody>
                  <a:tcPr>
                    <a:solidFill>
                      <a:srgbClr val="EEEFF7"/>
                    </a:solidFill>
                  </a:tcPr>
                </a:tc>
                <a:tc>
                  <a:txBody>
                    <a:bodyPr/>
                    <a:lstStyle/>
                    <a:p>
                      <a:pPr>
                        <a:defRPr sz="1500">
                          <a:solidFill>
                            <a:srgbClr val="222222"/>
                          </a:solidFill>
                        </a:defRPr>
                      </a:pPr>
                      <a:r>
                        <a:t>AUROC 0.90 (95% CI 0.86–0.93)</a:t>
                      </a:r>
                    </a:p>
                  </a:txBody>
                  <a:tcPr>
                    <a:solidFill>
                      <a:srgbClr val="EEEFF7"/>
                    </a:solidFill>
                  </a:tcPr>
                </a:tc>
              </a:tr>
              <a:tr h="502920">
                <a:tc>
                  <a:txBody>
                    <a:bodyPr/>
                    <a:lstStyle/>
                    <a:p>
                      <a:pPr>
                        <a:defRPr sz="1500">
                          <a:solidFill>
                            <a:srgbClr val="222222"/>
                          </a:solidFill>
                        </a:defRPr>
                      </a:pPr>
                      <a:r>
                        <a:t>BLAST_SEVERITY (macro)</a:t>
                      </a:r>
                    </a:p>
                  </a:txBody>
                  <a:tcPr>
                    <a:solidFill>
                      <a:srgbClr val="FFFFFF"/>
                    </a:solidFill>
                  </a:tcPr>
                </a:tc>
                <a:tc>
                  <a:txBody>
                    <a:bodyPr/>
                    <a:lstStyle/>
                    <a:p>
                      <a:pPr>
                        <a:defRPr sz="1500">
                          <a:solidFill>
                            <a:srgbClr val="222222"/>
                          </a:solidFill>
                        </a:defRPr>
                      </a:pPr>
                      <a:r>
                        <a:t>AUROC 0.85</a:t>
                      </a:r>
                    </a:p>
                  </a:txBody>
                  <a:tcPr>
                    <a:solidFill>
                      <a:srgbClr val="FFFFFF"/>
                    </a:solidFill>
                  </a:tcPr>
                </a:tc>
                <a:tc>
                  <a:txBody>
                    <a:bodyPr/>
                    <a:lstStyle/>
                    <a:p>
                      <a:pPr>
                        <a:defRPr sz="1500">
                          <a:solidFill>
                            <a:srgbClr val="222222"/>
                          </a:solidFill>
                        </a:defRPr>
                      </a:pPr>
                      <a:r>
                        <a:t>AUROC 0.79</a:t>
                      </a:r>
                    </a:p>
                  </a:txBody>
                  <a:tcPr>
                    <a:solidFill>
                      <a:srgbClr val="FFFFFF"/>
                    </a:solidFill>
                  </a:tcPr>
                </a:tc>
              </a:tr>
              <a:tr h="502920">
                <a:tc>
                  <a:txBody>
                    <a:bodyPr/>
                    <a:lstStyle/>
                    <a:p>
                      <a:pPr>
                        <a:defRPr sz="1500">
                          <a:solidFill>
                            <a:srgbClr val="222222"/>
                          </a:solidFill>
                        </a:defRPr>
                      </a:pPr>
                      <a:r>
                        <a:t>BLAST_PERCENT</a:t>
                      </a:r>
                    </a:p>
                  </a:txBody>
                  <a:tcPr>
                    <a:solidFill>
                      <a:srgbClr val="EEEFF7"/>
                    </a:solidFill>
                  </a:tcPr>
                </a:tc>
                <a:tc>
                  <a:txBody>
                    <a:bodyPr/>
                    <a:lstStyle/>
                    <a:p>
                      <a:pPr>
                        <a:defRPr sz="1500">
                          <a:solidFill>
                            <a:srgbClr val="222222"/>
                          </a:solidFill>
                        </a:defRPr>
                      </a:pPr>
                      <a:r>
                        <a:t>r 0.65, R² 0.02</a:t>
                      </a:r>
                    </a:p>
                  </a:txBody>
                  <a:tcPr>
                    <a:solidFill>
                      <a:srgbClr val="EEEFF7"/>
                    </a:solidFill>
                  </a:tcPr>
                </a:tc>
                <a:tc>
                  <a:txBody>
                    <a:bodyPr/>
                    <a:lstStyle/>
                    <a:p>
                      <a:pPr>
                        <a:defRPr sz="1500">
                          <a:solidFill>
                            <a:srgbClr val="222222"/>
                          </a:solidFill>
                        </a:defRPr>
                      </a:pPr>
                      <a:r>
                        <a:t>r 0.65, R² 0.04</a:t>
                      </a:r>
                    </a:p>
                  </a:txBody>
                  <a:tcPr>
                    <a:solidFill>
                      <a:srgbClr val="EEEFF7"/>
                    </a:solidFill>
                  </a:tcPr>
                </a:tc>
              </a:tr>
            </a:tbl>
          </a:graphicData>
        </a:graphic>
      </p:graphicFrame>
      <p:sp>
        <p:nvSpPr>
          <p:cNvPr id="5" name="TextBox 4"/>
          <p:cNvSpPr txBox="1"/>
          <p:nvPr/>
        </p:nvSpPr>
        <p:spPr>
          <a:xfrm>
            <a:off x="365760" y="6446520"/>
            <a:ext cx="11430000" cy="320040"/>
          </a:xfrm>
          <a:prstGeom prst="rect">
            <a:avLst/>
          </a:prstGeom>
          <a:noFill/>
        </p:spPr>
        <p:txBody>
          <a:bodyPr wrap="none">
            <a:spAutoFit/>
          </a:bodyPr>
          <a:lstStyle/>
          <a:p>
            <a:pPr>
              <a:defRPr sz="900">
                <a:solidFill>
                  <a:srgbClr val="666666"/>
                </a:solidFill>
              </a:defRPr>
            </a:pPr>
            <a:r>
              <a:t>SFB 1709 · B01 · STAMP</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Box 1"/>
          <p:cNvSpPr txBox="1"/>
          <p:nvPr/>
        </p:nvSpPr>
        <p:spPr>
          <a:xfrm>
            <a:off x="457200" y="320040"/>
            <a:ext cx="11247120" cy="822960"/>
          </a:xfrm>
          <a:prstGeom prst="rect">
            <a:avLst/>
          </a:prstGeom>
          <a:noFill/>
        </p:spPr>
        <p:txBody>
          <a:bodyPr wrap="square">
            <a:spAutoFit/>
          </a:bodyPr>
          <a:lstStyle/>
          <a:p>
            <a:pPr>
              <a:defRPr sz="2800" b="1">
                <a:solidFill>
                  <a:srgbClr val="1A4D8C"/>
                </a:solidFill>
              </a:defRPr>
            </a:pPr>
            <a:r>
              <a:t>Appendix — RESPONSE_CR definition (to confirm)</a:t>
            </a:r>
          </a:p>
        </p:txBody>
      </p:sp>
      <p:sp>
        <p:nvSpPr>
          <p:cNvPr id="3" name="Rectangle 2"/>
          <p:cNvSpPr/>
          <p:nvPr/>
        </p:nvSpPr>
        <p:spPr>
          <a:xfrm>
            <a:off x="0" y="1170432"/>
            <a:ext cx="12191695" cy="38100"/>
          </a:xfrm>
          <a:prstGeom prst="rect">
            <a:avLst/>
          </a:prstGeom>
          <a:solidFill>
            <a:srgbClr val="1A4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0"/>
            <a:ext cx="11155680" cy="4114800"/>
          </a:xfrm>
          <a:prstGeom prst="rect">
            <a:avLst/>
          </a:prstGeom>
          <a:noFill/>
        </p:spPr>
        <p:txBody>
          <a:bodyPr wrap="square">
            <a:spAutoFit/>
          </a:bodyPr>
          <a:lstStyle/>
          <a:p>
            <a:pPr>
              <a:spcAft>
                <a:spcPts val="700"/>
              </a:spcAft>
              <a:defRPr sz="2000">
                <a:solidFill>
                  <a:srgbClr val="222222"/>
                </a:solidFill>
              </a:defRPr>
            </a:pPr>
            <a:r>
              <a:t>• Confirm: complete-remission criteria (ELN 2022?) and assessment timepoint.</a:t>
            </a:r>
          </a:p>
          <a:p>
            <a:pPr>
              <a:spcAft>
                <a:spcPts val="700"/>
              </a:spcAft>
              <a:defRPr sz="2000">
                <a:solidFill>
                  <a:srgbClr val="222222"/>
                </a:solidFill>
              </a:defRPr>
            </a:pPr>
            <a:r>
              <a:t>• Confirm: which smear (diagnosis vs relapse) each label attaches to.</a:t>
            </a:r>
          </a:p>
          <a:p>
            <a:pPr>
              <a:spcAft>
                <a:spcPts val="700"/>
              </a:spcAft>
              <a:defRPr sz="2000">
                <a:solidFill>
                  <a:srgbClr val="222222"/>
                </a:solidFill>
              </a:defRPr>
            </a:pPr>
            <a:r>
              <a:t>• Confirm: handling of patients with multiple timepoints in the outcome.</a:t>
            </a:r>
          </a:p>
          <a:p>
            <a:pPr>
              <a:spcAft>
                <a:spcPts val="700"/>
              </a:spcAft>
              <a:defRPr sz="2000">
                <a:solidFill>
                  <a:srgbClr val="222222"/>
                </a:solidFill>
              </a:defRPr>
            </a:pPr>
            <a:r>
              <a:t>• These affect interpretation and are needed before any clinical claim.</a:t>
            </a:r>
          </a:p>
        </p:txBody>
      </p:sp>
      <p:sp>
        <p:nvSpPr>
          <p:cNvPr id="5" name="TextBox 4"/>
          <p:cNvSpPr txBox="1"/>
          <p:nvPr/>
        </p:nvSpPr>
        <p:spPr>
          <a:xfrm>
            <a:off x="365760" y="6446520"/>
            <a:ext cx="11430000" cy="320040"/>
          </a:xfrm>
          <a:prstGeom prst="rect">
            <a:avLst/>
          </a:prstGeom>
          <a:noFill/>
        </p:spPr>
        <p:txBody>
          <a:bodyPr wrap="none">
            <a:spAutoFit/>
          </a:bodyPr>
          <a:lstStyle/>
          <a:p>
            <a:pPr>
              <a:defRPr sz="900">
                <a:solidFill>
                  <a:srgbClr val="666666"/>
                </a:solidFill>
              </a:defRPr>
            </a:pPr>
            <a:r>
              <a:t>SFB 1709 · B01 · STAMP</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Box 1"/>
          <p:cNvSpPr txBox="1"/>
          <p:nvPr/>
        </p:nvSpPr>
        <p:spPr>
          <a:xfrm>
            <a:off x="457200" y="320040"/>
            <a:ext cx="11247120" cy="822960"/>
          </a:xfrm>
          <a:prstGeom prst="rect">
            <a:avLst/>
          </a:prstGeom>
          <a:noFill/>
        </p:spPr>
        <p:txBody>
          <a:bodyPr wrap="square">
            <a:spAutoFit/>
          </a:bodyPr>
          <a:lstStyle/>
          <a:p>
            <a:pPr>
              <a:defRPr sz="2800" b="1">
                <a:solidFill>
                  <a:srgbClr val="1A4D8C"/>
                </a:solidFill>
              </a:defRPr>
            </a:pPr>
            <a:r>
              <a:t>Appendix — anticipated questions (1/2)</a:t>
            </a:r>
          </a:p>
        </p:txBody>
      </p:sp>
      <p:sp>
        <p:nvSpPr>
          <p:cNvPr id="3" name="Rectangle 2"/>
          <p:cNvSpPr/>
          <p:nvPr/>
        </p:nvSpPr>
        <p:spPr>
          <a:xfrm>
            <a:off x="0" y="1170432"/>
            <a:ext cx="12191695" cy="38100"/>
          </a:xfrm>
          <a:prstGeom prst="rect">
            <a:avLst/>
          </a:prstGeom>
          <a:solidFill>
            <a:srgbClr val="1A4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0"/>
            <a:ext cx="11155680" cy="4114800"/>
          </a:xfrm>
          <a:prstGeom prst="rect">
            <a:avLst/>
          </a:prstGeom>
          <a:noFill/>
        </p:spPr>
        <p:txBody>
          <a:bodyPr wrap="square">
            <a:spAutoFit/>
          </a:bodyPr>
          <a:lstStyle/>
          <a:p>
            <a:pPr>
              <a:spcAft>
                <a:spcPts val="700"/>
              </a:spcAft>
              <a:defRPr sz="2000">
                <a:solidFill>
                  <a:srgbClr val="222222"/>
                </a:solidFill>
              </a:defRPr>
            </a:pPr>
            <a:r>
              <a:t>• Leakage: addressed — all numbers are patient-grouped.</a:t>
            </a:r>
          </a:p>
          <a:p>
            <a:pPr>
              <a:spcAft>
                <a:spcPts val="700"/>
              </a:spcAft>
              <a:defRPr sz="2000">
                <a:solidFill>
                  <a:srgbClr val="222222"/>
                </a:solidFill>
              </a:defRPr>
            </a:pPr>
            <a:r>
              <a:t>• Imbalance: see PR/calibration slide; AUROC + AUPRC both reported.</a:t>
            </a:r>
          </a:p>
          <a:p>
            <a:pPr>
              <a:spcAft>
                <a:spcPts val="700"/>
              </a:spcAft>
              <a:defRPr sz="2000">
                <a:solidFill>
                  <a:srgbClr val="222222"/>
                </a:solidFill>
              </a:defRPr>
            </a:pPr>
            <a:r>
              <a:t>• Is 'response' just blast burden? Yes here — RESPONSE_CR ≡ blast &lt;5% (CR criterion); needs decoupling.</a:t>
            </a:r>
          </a:p>
          <a:p>
            <a:pPr>
              <a:spcAft>
                <a:spcPts val="700"/>
              </a:spcAft>
              <a:defRPr sz="2000">
                <a:solidFill>
                  <a:srgbClr val="222222"/>
                </a:solidFill>
              </a:defRPr>
            </a:pPr>
            <a:r>
              <a:t>• Batch effects: protocol-from-score AUROC 0.59 (mild); stain-normalization planned.</a:t>
            </a:r>
          </a:p>
        </p:txBody>
      </p:sp>
      <p:sp>
        <p:nvSpPr>
          <p:cNvPr id="5" name="TextBox 4"/>
          <p:cNvSpPr txBox="1"/>
          <p:nvPr/>
        </p:nvSpPr>
        <p:spPr>
          <a:xfrm>
            <a:off x="365760" y="6446520"/>
            <a:ext cx="11430000" cy="320040"/>
          </a:xfrm>
          <a:prstGeom prst="rect">
            <a:avLst/>
          </a:prstGeom>
          <a:noFill/>
        </p:spPr>
        <p:txBody>
          <a:bodyPr wrap="none">
            <a:spAutoFit/>
          </a:bodyPr>
          <a:lstStyle/>
          <a:p>
            <a:pPr>
              <a:defRPr sz="900">
                <a:solidFill>
                  <a:srgbClr val="666666"/>
                </a:solidFill>
              </a:defRPr>
            </a:pPr>
            <a:r>
              <a:t>SFB 1709 · B01 · STAMP</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Box 1"/>
          <p:cNvSpPr txBox="1"/>
          <p:nvPr/>
        </p:nvSpPr>
        <p:spPr>
          <a:xfrm>
            <a:off x="457200" y="320040"/>
            <a:ext cx="11247120" cy="822960"/>
          </a:xfrm>
          <a:prstGeom prst="rect">
            <a:avLst/>
          </a:prstGeom>
          <a:noFill/>
        </p:spPr>
        <p:txBody>
          <a:bodyPr wrap="square">
            <a:spAutoFit/>
          </a:bodyPr>
          <a:lstStyle/>
          <a:p>
            <a:pPr>
              <a:defRPr sz="2800" b="1">
                <a:solidFill>
                  <a:srgbClr val="1A4D8C"/>
                </a:solidFill>
              </a:defRPr>
            </a:pPr>
            <a:r>
              <a:t>Appendix — anticipated questions (2/2)</a:t>
            </a:r>
          </a:p>
        </p:txBody>
      </p:sp>
      <p:sp>
        <p:nvSpPr>
          <p:cNvPr id="3" name="Rectangle 2"/>
          <p:cNvSpPr/>
          <p:nvPr/>
        </p:nvSpPr>
        <p:spPr>
          <a:xfrm>
            <a:off x="0" y="1170432"/>
            <a:ext cx="12191695" cy="38100"/>
          </a:xfrm>
          <a:prstGeom prst="rect">
            <a:avLst/>
          </a:prstGeom>
          <a:solidFill>
            <a:srgbClr val="1A4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0"/>
            <a:ext cx="11155680" cy="4114800"/>
          </a:xfrm>
          <a:prstGeom prst="rect">
            <a:avLst/>
          </a:prstGeom>
          <a:noFill/>
        </p:spPr>
        <p:txBody>
          <a:bodyPr wrap="square">
            <a:spAutoFit/>
          </a:bodyPr>
          <a:lstStyle/>
          <a:p>
            <a:pPr>
              <a:spcAft>
                <a:spcPts val="700"/>
              </a:spcAft>
              <a:defRPr sz="2000">
                <a:solidFill>
                  <a:srgbClr val="222222"/>
                </a:solidFill>
              </a:defRPr>
            </a:pPr>
            <a:r>
              <a:t>• Why UNI2 / this model? Default; foundation-model &amp; aggregator ablations planned.</a:t>
            </a:r>
          </a:p>
          <a:p>
            <a:pPr>
              <a:spcAft>
                <a:spcPts val="700"/>
              </a:spcAft>
              <a:defRPr sz="2000">
                <a:solidFill>
                  <a:srgbClr val="222222"/>
                </a:solidFill>
              </a:defRPr>
            </a:pPr>
            <a:r>
              <a:t>• Clinical utility? Proof of concept; needs calibration + external validation.</a:t>
            </a:r>
          </a:p>
          <a:p>
            <a:pPr>
              <a:spcAft>
                <a:spcPts val="700"/>
              </a:spcAft>
              <a:defRPr sz="2000">
                <a:solidFill>
                  <a:srgbClr val="222222"/>
                </a:solidFill>
              </a:defRPr>
            </a:pPr>
            <a:r>
              <a:t>• Why smears vs flow? Cheap, routine, preserves single-cell morphology (orthogonal signal).</a:t>
            </a:r>
          </a:p>
          <a:p>
            <a:pPr>
              <a:spcAft>
                <a:spcPts val="700"/>
              </a:spcAft>
              <a:defRPr sz="2000">
                <a:solidFill>
                  <a:srgbClr val="222222"/>
                </a:solidFill>
              </a:defRPr>
            </a:pPr>
            <a:r>
              <a:t>• scRNA-seq integration: correlate attention regions / image features with cell states &amp; response.</a:t>
            </a:r>
          </a:p>
        </p:txBody>
      </p:sp>
      <p:sp>
        <p:nvSpPr>
          <p:cNvPr id="5" name="TextBox 4"/>
          <p:cNvSpPr txBox="1"/>
          <p:nvPr/>
        </p:nvSpPr>
        <p:spPr>
          <a:xfrm>
            <a:off x="365760" y="6446520"/>
            <a:ext cx="11430000" cy="320040"/>
          </a:xfrm>
          <a:prstGeom prst="rect">
            <a:avLst/>
          </a:prstGeom>
          <a:noFill/>
        </p:spPr>
        <p:txBody>
          <a:bodyPr wrap="none">
            <a:spAutoFit/>
          </a:bodyPr>
          <a:lstStyle/>
          <a:p>
            <a:pPr>
              <a:defRPr sz="900">
                <a:solidFill>
                  <a:srgbClr val="666666"/>
                </a:solidFill>
              </a:defRPr>
            </a:pPr>
            <a:r>
              <a:t>SFB 1709 · B01 · STAMP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