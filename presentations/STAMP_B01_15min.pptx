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Predicting VEN/AZA Response in AML from Blast Morphology 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404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DE6F2"/>
                </a:solidFill>
              </a:defRPr>
            </a:pPr>
            <a:r>
              <a:t>SFB 1709 · Project B01  •  STAMP computational-pathology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DE6F2"/>
                </a:solidFill>
              </a:defRPr>
            </a:pPr>
            <a:r>
              <a:t>Jiefu Zhu (PhD)  •  PIs: Prof. J. N. Kather, Dr. M. Janssen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DE6F2"/>
                </a:solidFill>
              </a:defRPr>
            </a:pPr>
            <a:r>
              <a:t>Dept. of Medical Oncology (NCT-HD) &amp; Dept. of Hematology, Heidelberg University Hospital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D8C"/>
                </a:solidFill>
              </a:defRPr>
            </a:pPr>
            <a:r>
              <a:t>Clinical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1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Goal: predict VEN/AZA response in AML directly from the appearance of blast cells.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Acute myeloid leukemia (AML): aggressive blood cancer driven by immature blast cells.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Venetoclax + azacitidine (VEN/AZA) is a key therapy — but response is variable and hard to predict up front.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Blasts are the diagnostic read-out: counted and graded by hematopathologists on bone-marrow smears.</a:t>
            </a:r>
          </a:p>
          <a:p>
            <a:pPr lvl="1">
              <a:spcAft>
                <a:spcPts val="700"/>
              </a:spcAft>
              <a:defRPr sz="1800">
                <a:solidFill>
                  <a:srgbClr val="666666"/>
                </a:solidFill>
              </a:defRPr>
            </a:pPr>
            <a:r>
              <a:t>– We study paired primary samples at diagnosis and relapse.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If blast morphology encodes who will respond, we can stratify patients earlier.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SFB 1709 · B01 · STAMP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D8C"/>
                </a:solidFill>
              </a:defRPr>
            </a:pPr>
            <a:r>
              <a:t>Project B01 — the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1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B01: morphology (AI) + single-cell transcriptomics → response prediction &amp; biomarker discovery.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Analyze cytologic variability of AML blasts as a determinant of VEN/AZA response.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Combine two modalities on the same patients:</a:t>
            </a:r>
          </a:p>
          <a:p>
            <a:pPr lvl="1">
              <a:spcAft>
                <a:spcPts val="700"/>
              </a:spcAft>
              <a:defRPr sz="1800">
                <a:solidFill>
                  <a:srgbClr val="666666"/>
                </a:solidFill>
              </a:defRPr>
            </a:pPr>
            <a:r>
              <a:t>– Generative-AI / deep-learning image analysis of blast morphology (this talk).</a:t>
            </a:r>
          </a:p>
          <a:p>
            <a:pPr lvl="1">
              <a:spcAft>
                <a:spcPts val="700"/>
              </a:spcAft>
              <a:defRPr sz="1800">
                <a:solidFill>
                  <a:srgbClr val="666666"/>
                </a:solidFill>
              </a:defRPr>
            </a:pPr>
            <a:r>
              <a:t>– Single-cell RNA sequencing (scRNA-seq) of the same samples.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Integrate morphology + molecular profiles to predict outcome and discover novel response biomarkers.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SFB 1709 · B01 · STAMP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D8C"/>
                </a:solidFill>
              </a:defRPr>
            </a:pPr>
            <a:r>
              <a:t>What is STAMP?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1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STAMP turns gigapixel slides into predictions with only slide-level labels.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End-to-end, weakly-supervised deep-learning pipeline: whole-slide image → biomarker prediction.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No pixel-level annotations needed — only one clinical label per sample.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Peer-reviewed protocol (Nature Protocols 2024); used across many tumor types and centers.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Supports 20+ pathology foundation models and classification, regression &amp; survival in one framework.</a:t>
            </a:r>
          </a:p>
          <a:p>
            <a:pPr lvl="1">
              <a:spcAft>
                <a:spcPts val="700"/>
              </a:spcAft>
              <a:defRPr sz="1800">
                <a:solidFill>
                  <a:srgbClr val="666666"/>
                </a:solidFill>
              </a:defRPr>
            </a:pPr>
            <a:r>
              <a:t>– We use it as the image-analysis engine for B01.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SFB 1709 · B01 · STAMP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D8C"/>
                </a:solidFill>
              </a:defRPr>
            </a:pPr>
            <a:r>
              <a:t>The STAMP pipeline (as we run it)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1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Preprocess → UNI2 tile features → ViT-MIL → 5-fold crossval → metrics + heatmaps.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1.  Preprocess — tile each smear WSI into 224×224 patches; QC filters drop empty/blurred tiles.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2.  Feature extraction — UNI2 pathology foundation model embeds every tile.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3.  Aggregation — Vision-Transformer multiple-instance learning (MIL) pools tiles → one prediction per sample.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4.  Cross-validation — 5-fold; every sample is predicted while held out of training.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5.  Outputs — metrics with 95% CIs + explainability heatmaps + top-tile exports.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SFB 1709 · B01 · STAMP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D8C"/>
                </a:solidFill>
              </a:defRPr>
            </a:pPr>
            <a:r>
              <a:t>Our cohort &amp; labels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1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69 patients • 489 samples • 511 BM-smear WSIs • 4 prediction tasks.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Bone-marrow smear whole-slide images from the AG Janssen AML cohort.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69 patients • 489 samples (diagnosis/relapse × smear parts A/B/C) • 511 slide images.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Tile features: UNI2 (uni2-0242c340). Model: ViT-MIL (dim 512, 2 layers, 8 heads), 5-fold crossval.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Four clinical labels per sample, defined with the hematology team:</a:t>
            </a:r>
          </a:p>
          <a:p>
            <a:pPr lvl="1">
              <a:spcAft>
                <a:spcPts val="700"/>
              </a:spcAft>
              <a:defRPr sz="1800">
                <a:solidFill>
                  <a:srgbClr val="666666"/>
                </a:solidFill>
              </a:defRPr>
            </a:pPr>
            <a:r>
              <a:t>– RESPONSE_CR, HIGH_BLAST, BLAST_SEVERITY, BLAST_PERCENT.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SFB 1709 · B01 · STAMP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D8C"/>
                </a:solidFill>
              </a:defRPr>
            </a:pPr>
            <a:r>
              <a:t>The four prediction tasks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1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00200"/>
          <a:ext cx="112471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5852160"/>
                <a:gridCol w="2743200"/>
              </a:tblGrid>
              <a:tr h="5029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Label</a:t>
                      </a:r>
                    </a:p>
                  </a:txBody>
                  <a:tcPr>
                    <a:solidFill>
                      <a:srgbClr val="1A4D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1A4D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A4D8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RESPONSE_CR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Will the patient reach complete remission?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binary (yes/no)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HIGH_BLAST</a:t>
                      </a:r>
                    </a:p>
                  </a:txBody>
                  <a:tcPr>
                    <a:solidFill>
                      <a:srgbClr val="EE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Is this a high-blast-burden sample?</a:t>
                      </a:r>
                    </a:p>
                  </a:txBody>
                  <a:tcPr>
                    <a:solidFill>
                      <a:srgbClr val="EE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binary (yes/no)</a:t>
                      </a:r>
                    </a:p>
                  </a:txBody>
                  <a:tcPr>
                    <a:solidFill>
                      <a:srgbClr val="EEEF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BLAST_SEVERITY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Low / intermediate / high blast burden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3-class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BLAST_PERCENT</a:t>
                      </a:r>
                    </a:p>
                  </a:txBody>
                  <a:tcPr>
                    <a:solidFill>
                      <a:srgbClr val="EE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What % of cells are blasts?</a:t>
                      </a:r>
                    </a:p>
                  </a:txBody>
                  <a:tcPr>
                    <a:solidFill>
                      <a:srgbClr val="EE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regression (0–100)</a:t>
                      </a:r>
                    </a:p>
                  </a:txBody>
                  <a:tcPr>
                    <a:solidFill>
                      <a:srgbClr val="EEEF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SFB 1709 · B01 · STAMP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D8C"/>
                </a:solidFill>
              </a:defRPr>
            </a:pPr>
            <a:r>
              <a:t>Results at a glance (5-fold cross-validation)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1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00200"/>
          <a:ext cx="112471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554480"/>
                <a:gridCol w="2560320"/>
                <a:gridCol w="2926080"/>
              </a:tblGrid>
              <a:tr h="5029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A4D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A4D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Samples</a:t>
                      </a:r>
                    </a:p>
                  </a:txBody>
                  <a:tcPr>
                    <a:solidFill>
                      <a:srgbClr val="1A4D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1A4D8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RESPONSE_CR (complete remission)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binary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489 (336 yes / 153 no)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AUROC 0.870  (95% CI 0.80–0.94)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HIGH_BLAST</a:t>
                      </a:r>
                    </a:p>
                  </a:txBody>
                  <a:tcPr>
                    <a:solidFill>
                      <a:srgbClr val="EE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binary</a:t>
                      </a:r>
                    </a:p>
                  </a:txBody>
                  <a:tcPr>
                    <a:solidFill>
                      <a:srgbClr val="EE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489 (98 / 391)</a:t>
                      </a:r>
                    </a:p>
                  </a:txBody>
                  <a:tcPr>
                    <a:solidFill>
                      <a:srgbClr val="EE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AUROC 0.929  (0.88–0.98)</a:t>
                      </a:r>
                    </a:p>
                  </a:txBody>
                  <a:tcPr>
                    <a:solidFill>
                      <a:srgbClr val="EEEF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BLAST_SEVERITY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3-class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489 (98 / 55 / 336)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AUROC: high 0.91 · low 0.86 · interm. 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BLAST_PERCENT</a:t>
                      </a:r>
                    </a:p>
                  </a:txBody>
                  <a:tcPr>
                    <a:solidFill>
                      <a:srgbClr val="EE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regression</a:t>
                      </a:r>
                    </a:p>
                  </a:txBody>
                  <a:tcPr>
                    <a:solidFill>
                      <a:srgbClr val="EE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n≈97</a:t>
                      </a:r>
                    </a:p>
                  </a:txBody>
                  <a:tcPr>
                    <a:solidFill>
                      <a:srgbClr val="EE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Pearson r 0.68 · R²≈0 · MAE 12%</a:t>
                      </a:r>
                    </a:p>
                  </a:txBody>
                  <a:tcPr>
                    <a:solidFill>
                      <a:srgbClr val="EEEF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2062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666666"/>
                </a:solidFill>
              </a:defRPr>
            </a:pPr>
            <a:r>
              <a:t>Classification reported as cross-validated AUROC with 95% CI. Regression: correlation is strong but absolute calibration is poor (see BLAST_PERCENT slide).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SFB 1709 · B01 · STAMP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D8C"/>
                </a:solidFill>
              </a:defRPr>
            </a:pPr>
            <a:r>
              <a:t>RESPONSE_CR — predicting complete remission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1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ponse_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1554480"/>
            <a:ext cx="6446520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645920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AUROC 0.870 (95% CI 0.80–0.94).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Best clinically actionable result: response is predictable from morphology alone.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Heatmap shows the model concentrates on cell-rich smear regions.</a:t>
            </a:r>
          </a:p>
          <a:p>
            <a:pPr lvl="1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– Confident mistakes are flagged for re-review (label-noise check).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666666"/>
                </a:solidFill>
              </a:defRPr>
            </a:pPr>
            <a:r>
              <a:t>Heatmap: sample 333 19 A (held-out). GT = responder (yes); model P(yes)=0.945. Red = tiles most relevant to the 'responder' prediction.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SFB 1709 · B01 · STAMP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D8C"/>
                </a:solidFill>
              </a:defRPr>
            </a:pPr>
            <a:r>
              <a:t>HIGH_BLAST — detecting high blast burden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1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igh_blast_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1554480"/>
            <a:ext cx="6446520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645920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AUROC 0.929 (95% CI 0.88–0.98) — our strongest classifier.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Attention lands on dense blast-rich areas.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This is the signal we trust most for visual triage.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666666"/>
                </a:solidFill>
              </a:defRPr>
            </a:pPr>
            <a:r>
              <a:t>Heatmap: sample S_895 19 B (held-out). GT = high blast (yes); model P(yes)=0.618 → correct.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SFB 1709 · B01 · STAMP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D8C"/>
                </a:solidFill>
              </a:defRPr>
            </a:pPr>
            <a:r>
              <a:t>BLAST_SEVERITY — low / intermediate / high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1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Severity grading works well at the extremes; the middle class is the hard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3-class severity grading.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AUROC: high 0.912 • low 0.864 • intermediate 0.783.</a:t>
            </a:r>
          </a:p>
          <a:p>
            <a:pPr lvl="1">
              <a:spcAft>
                <a:spcPts val="700"/>
              </a:spcAft>
              <a:defRPr sz="1800">
                <a:solidFill>
                  <a:srgbClr val="666666"/>
                </a:solidFill>
              </a:defRPr>
            </a:pPr>
            <a:r>
              <a:t>– The 'intermediate' class is hardest — expected, it sits between two boundaries.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High and low are separated reliably; intermediate is where extra annotation would help most.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SFB 1709 · B01 · STAMP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D8C"/>
                </a:solidFill>
              </a:defRPr>
            </a:pPr>
            <a:r>
              <a:t>BLAST_PERCENT — a cautionary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1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last_percent_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65248"/>
            <a:ext cx="6766560" cy="40761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645920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Pearson r = 0.68 (p≈10⁻¹⁴): ranks samples well.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But R²≈0 and MAE 12% — absolute values are mis-calibrated.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Fails badly on the highest-blast slides.</a:t>
            </a:r>
          </a:p>
          <a:p>
            <a:pPr lvl="1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– Lesson: trust the ordering, not the exact % (yet).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666666"/>
                </a:solidFill>
              </a:defRPr>
            </a:pPr>
            <a:r>
              <a:t>Regression relevance map: sample S_895 19 B. GT blast = 75%, but predicted 0.9% (|err| 74%).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SFB 1709 · B01 · STAMP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D8C"/>
                </a:solidFill>
              </a:defRPr>
            </a:pPr>
            <a:r>
              <a:t>What the model looks at — and what to trust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1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Same slide, two heads: use HIGH_BLAST maps for visual blast triage — not the regression maps.</a:t>
            </a:r>
          </a:p>
        </p:txBody>
      </p:sp>
      <p:pic>
        <p:nvPicPr>
          <p:cNvPr id="5" name="Picture 4" descr="high_blast_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" y="1965960"/>
            <a:ext cx="5349240" cy="3566160"/>
          </a:xfrm>
          <a:prstGeom prst="rect">
            <a:avLst/>
          </a:prstGeom>
        </p:spPr>
      </p:pic>
      <p:pic>
        <p:nvPicPr>
          <p:cNvPr id="6" name="Picture 5" descr="blast_percent_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096549"/>
            <a:ext cx="5486400" cy="33049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8064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666666"/>
                </a:solidFill>
              </a:defRPr>
            </a:pPr>
            <a:r>
              <a:t>HIGH_BLAST attention — tracks clinical blast burden (proxy AUROC 0.86, ρ=0.35).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064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666666"/>
                </a:solidFill>
              </a:defRPr>
            </a:pPr>
            <a:r>
              <a:t>BLAST_PERCENT relevance — does NOT track blast burden (proxy AUROC 0.42, ρ=−0.04).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SFB 1709 · B01 · STAMP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D8C"/>
                </a:solidFill>
              </a:defRPr>
            </a:pPr>
            <a:r>
              <a:t>Preprocessing QC insight: a data-quality finding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1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Cause: out-of-focus tiles fail the Canny edge filter — a 5- vs 10-'Fokuspunkte' scan issue. Fix = re-scan.</a:t>
            </a:r>
          </a:p>
        </p:txBody>
      </p:sp>
      <p:pic>
        <p:nvPicPr>
          <p:cNvPr id="5" name="Picture 4" descr="127 26 C Score 0 - 5 Fokuspunkte - entfettet - 2026-03-04 17.28.20__befo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29586"/>
            <a:ext cx="5486400" cy="2438908"/>
          </a:xfrm>
          <a:prstGeom prst="rect">
            <a:avLst/>
          </a:prstGeom>
        </p:spPr>
      </p:pic>
      <p:pic>
        <p:nvPicPr>
          <p:cNvPr id="6" name="Picture 5" descr="127 26 C Score 0 - 5 Fokuspunkte - entfettet - 2026-03-04 17.28.20__af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529586"/>
            <a:ext cx="5486400" cy="24389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8064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666666"/>
                </a:solidFill>
              </a:defRPr>
            </a:pPr>
            <a:r>
              <a:t>Before — raw smear (sample 127 26 C).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064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666666"/>
                </a:solidFill>
              </a:defRPr>
            </a:pPr>
            <a:r>
              <a:t>After — only 4.7% of tiles kept (green); rest dropped (red).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SFB 1709 · B01 · STAMP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D8C"/>
                </a:solidFill>
              </a:defRPr>
            </a:pPr>
            <a:r>
              <a:t>Toward hematopathologist annotation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1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A targeted annotation plan turns model uncertainty into the most informative labels.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We rank slides by how much a human label would help, in three buckets:</a:t>
            </a:r>
          </a:p>
          <a:p>
            <a:pPr lvl="1">
              <a:spcAft>
                <a:spcPts val="700"/>
              </a:spcAft>
              <a:defRPr sz="1800">
                <a:solidFill>
                  <a:srgbClr val="666666"/>
                </a:solidFill>
              </a:defRPr>
            </a:pPr>
            <a:r>
              <a:t>– Confidently correct → validate the visual cues the model relies on.</a:t>
            </a:r>
          </a:p>
          <a:p>
            <a:pPr lvl="1">
              <a:spcAft>
                <a:spcPts val="700"/>
              </a:spcAft>
              <a:defRPr sz="1800">
                <a:solidFill>
                  <a:srgbClr val="666666"/>
                </a:solidFill>
              </a:defRPr>
            </a:pPr>
            <a:r>
              <a:t>– Confidently wrong → surface label noise or genuinely hard morphology (highest value).</a:t>
            </a:r>
          </a:p>
          <a:p>
            <a:pPr lvl="1">
              <a:spcAft>
                <a:spcPts val="700"/>
              </a:spcAft>
              <a:defRPr sz="1800">
                <a:solidFill>
                  <a:srgbClr val="666666"/>
                </a:solidFill>
              </a:defRPr>
            </a:pPr>
            <a:r>
              <a:t>– Near the decision boundary → add ground truth exactly where it moves AUROC.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Output is a ready-to-review deck + overlay contact sheets for the hematology team.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SFB 1709 · B01 · STAMP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D8C"/>
                </a:solidFill>
              </a:defRPr>
            </a:pPr>
            <a: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1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Labels are slide-level, not cell-level — no per-blast ground truth yet.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BLAST_PERCENT regression is mis-calibrated on high-blast samples.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Focus/staining artifacts (and the 5-Fokuspunkte scans) reduce usable tissue on some slides.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Some confident errors look like label noise — needs pathologist adjudication.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Single-center cohort; external validation still to 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SFB 1709 · B01 · STAMP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6ECF5"/>
                </a:solidFill>
              </a:defRPr>
            </a:pPr>
            <a:r>
              <a:t>• Response (AUROC 0.87) and blast burden (0.93) are predictable from smear morphology alone.</a:t>
            </a:r>
          </a:p>
          <a:p>
            <a:pPr>
              <a:spcAft>
                <a:spcPts val="1200"/>
              </a:spcAft>
              <a:defRPr sz="2000">
                <a:solidFill>
                  <a:srgbClr val="E6ECF5"/>
                </a:solidFill>
              </a:defRPr>
            </a:pPr>
            <a:r>
              <a:t>• Explainability heatmaps make the predictions auditable for clinicians.</a:t>
            </a:r>
          </a:p>
          <a:p>
            <a:pPr>
              <a:spcAft>
                <a:spcPts val="1200"/>
              </a:spcAft>
              <a:defRPr sz="2000">
                <a:solidFill>
                  <a:srgbClr val="E6ECF5"/>
                </a:solidFill>
              </a:defRPr>
            </a:pPr>
            <a:r>
              <a:t>• Next: pathologist annotation round, regression re-calibration, re-scan low-focus slides.</a:t>
            </a:r>
          </a:p>
          <a:p>
            <a:pPr>
              <a:spcAft>
                <a:spcPts val="1200"/>
              </a:spcAft>
              <a:defRPr sz="2000">
                <a:solidFill>
                  <a:srgbClr val="E6ECF5"/>
                </a:solidFill>
              </a:defRPr>
            </a:pPr>
            <a:r>
              <a:t>• Then: integrate with single-cell transcriptomics for VEN/AZA biomarker discovery.</a:t>
            </a:r>
          </a:p>
          <a:p>
            <a:pPr>
              <a:spcAft>
                <a:spcPts val="1200"/>
              </a:spcAft>
              <a:defRPr sz="2000">
                <a:solidFill>
                  <a:srgbClr val="E6ECF5"/>
                </a:solidFill>
              </a:defRPr>
            </a:pPr>
            <a:r>
              <a:t>• Thanks: AG Janssen, Kather Lab, SFB 1709 consortium.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